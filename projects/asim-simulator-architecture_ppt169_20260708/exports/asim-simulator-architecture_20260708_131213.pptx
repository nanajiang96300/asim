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  <Relationship Id="rId14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欢迎来到 Asim 仿真器架构分享。Asim 是一个多核 NPU 周期级仿真器，今天我们来看它的架构设计、仿真流程和基础计算算子。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Asim 是从 ONNXim 分支出来的多核 NPU 周期级仿真器。它显式建模了 24 核 SystolicWS 核心、三种流水线、两种 NoC 模型和三种 DRAM 模型，底层使用 Ramulator2 做 HBM2 的 32 通道周期精确仿真。它的核心应用场景是 MIMO 通信系统中的矩阵求逆算子优化，输出包括周期计数、利用率和指令级 Trace。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仿真器的整体架构以 Simulator 为中心调度者，统一管理六大子系统。Core 数组是计算核心，每个 Core 内部有三条流水线。DRAM 通过 Ramulator2 建模 HBM2，Interconnect 负责 Core 和 DRAM 之间的数据路由。Scheduler 负责将 Tile 分发到多核，底层的 Model 到 Operation 到 Tile 到 Instruction 的三层模型是整个仿真器的核心设计范式。FormulaLogger 和 TraceLogger 分别记录数学语义和指令 Trace。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三层执行模型是理解整个仿真器的关键。最上层 Model 描述张量计算图，创建 Operation 节点并通过 Tensor 边连接。中间层 Operation 是算子实现，它的 initialize_tiles 方法按 batch 拆分生成 Tile，每个 Tile 再调用 initialize_instructions 生成指令序列。最底层 Instruction 是原子执行单元，携带 opcode、地址、维度和计算量信息。从 MOVIN 搬入数据，经过 GEMM 和向量标量计算，到 MOVOUT 搬出结果，一整条指令链就这样形成了。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仿真主循环的核心机制是三域时间推进。Core、DRAM 和 ICNT 各自有不同的时钟频率，set_cycle_mask 比较三域的时间戳，选择时间最小的域推进。Core 域负责模型调度、Tile 分发和核心计算，DRAM 域推进 Ramulator2 的周期模型，ICNT 域处理 Core 和 DRAM 之间的请求响应路由。三域频率不同自然形成交错执行，仿真结束后输出利用率统计、Trace CSV 和 Formula JSON。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每个 Core 内部通过 LD、EX、ST 三条指令队列将 Tile 指令分发到物理流水线。EX 队列根据 opcode 类型将指令路由到 Cube、Vector 或 Scalar 流水线。Cube 流水线是脉动阵列，支持多发射，以 16 乘 16 乘 16 为基本块做矩阵乘法。Vector 流水线是 2048 位的 SIMD 单元，单发射处理逐元素运算。Scalar 流水线是严格的单发射 ALU，compute_size 恒为 1，用于对角线元素操作。SPAD 和 ACCUM 各 256KB，通过双缓冲机制交替使用。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最后来看三类基础算子的对比。GEMM 系列映射到 Cube 脉动阵列，支持多发射，延迟由分块数和流水线填充排空决定，compute_size 是三维矩阵乘积累。Vector 系列包括十种运算和同步屏障，映射到 SIMD 单元，单发射，延迟由向量迭代次数乘延迟常数。Scalar 系列只有五种逐元素运算，严格单发射，compute_size 恒为 1，固定 1 到 4 周期延迟。数据搬运统一遵循 DRAM 到 SPAD 到流水线到 SPAD 再回 DRAM 的路径。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</p:sp>
      <p:grpSp>
        <p:nvGrpSpPr>
          <p:cNvPr id="15" name="Group 1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40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40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40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40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0" y="571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40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1B2838">
                  <a:alpha val="40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1B2838">
                  <a:alpha val="40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1B2838">
                  <a:alpha val="40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1B2838">
                  <a:alpha val="40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1B2838">
                  <a:alpha val="40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1B2838">
                  <a:alpha val="40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1B2838">
                  <a:alpha val="40000"/>
                </a:srgbClr>
              </a:solidFill>
            </a:ln>
          </p:spPr>
        </p:sp>
      </p:grpSp>
      <p:sp>
        <p:nvSpPr>
          <p:cNvPr id="16" name="Rectangle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196F3">
                  <a:alpha val="12000"/>
                </a:srgbClr>
              </a:gs>
              <a:gs pos="100000">
                <a:srgbClr val="00BCD4">
                  <a:alpha val="4000"/>
                </a:srgbClr>
              </a:gs>
            </a:gsLst>
            <a:lin ang="2700000" scaled="1"/>
          </a:gradFill>
          <a:ln>
            <a:noFill/>
          </a:ln>
        </p:spPr>
      </p:sp>
      <p:grpSp>
        <p:nvGrpSpPr>
          <p:cNvPr id="70" name="Group 70"/>
          <p:cNvGrpSpPr/>
          <p:nvPr/>
        </p:nvGrpSpPr>
        <p:grpSpPr>
          <a:xfrm>
            <a:off x="3238500" y="1287780"/>
            <a:ext cx="7018821" cy="2547461"/>
            <a:chOff x="3238500" y="1287780"/>
            <a:chExt cx="7018821" cy="2547461"/>
          </a:xfrm>
        </p:grpSpPr>
        <p:grpSp>
          <p:nvGrpSpPr>
            <p:cNvPr id="27" name="Group 27"/>
            <p:cNvGrpSpPr/>
            <p:nvPr/>
          </p:nvGrpSpPr>
          <p:grpSpPr>
            <a:xfrm>
              <a:off x="6858000" y="1714500"/>
              <a:ext cx="1905000" cy="1603057"/>
              <a:chOff x="6858000" y="1714500"/>
              <a:chExt cx="1905000" cy="1603057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6858000" y="1714500"/>
                <a:ext cx="571500" cy="381000"/>
              </a:xfrm>
              <a:prstGeom prst="roundRect">
                <a:avLst>
                  <a:gd name="adj" fmla="val 5000"/>
                </a:avLst>
              </a:prstGeom>
              <a:noFill/>
              <a:ln w="11430">
                <a:solidFill>
                  <a:srgbClr val="2196F3">
                    <a:alpha val="70000"/>
                  </a:srgbClr>
                </a:solidFill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7524750" y="1714500"/>
                <a:ext cx="571500" cy="381000"/>
              </a:xfrm>
              <a:prstGeom prst="roundRect">
                <a:avLst>
                  <a:gd name="adj" fmla="val 5000"/>
                </a:avLst>
              </a:prstGeom>
              <a:noFill/>
              <a:ln w="11430">
                <a:solidFill>
                  <a:srgbClr val="2196F3">
                    <a:alpha val="70000"/>
                  </a:srgbClr>
                </a:solidFill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8191500" y="1714500"/>
                <a:ext cx="571500" cy="381000"/>
              </a:xfrm>
              <a:prstGeom prst="roundRect">
                <a:avLst>
                  <a:gd name="adj" fmla="val 5000"/>
                </a:avLst>
              </a:prstGeom>
              <a:noFill/>
              <a:ln w="11430">
                <a:solidFill>
                  <a:srgbClr val="2196F3">
                    <a:alpha val="70000"/>
                  </a:srgbClr>
                </a:solidFill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6858000" y="2238375"/>
                <a:ext cx="571500" cy="381000"/>
              </a:xfrm>
              <a:prstGeom prst="roundRect">
                <a:avLst>
                  <a:gd name="adj" fmla="val 5000"/>
                </a:avLst>
              </a:prstGeom>
              <a:noFill/>
              <a:ln w="11430">
                <a:solidFill>
                  <a:srgbClr val="2196F3">
                    <a:alpha val="70000"/>
                  </a:srgbClr>
                </a:solidFill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7524750" y="2238375"/>
                <a:ext cx="571500" cy="381000"/>
              </a:xfrm>
              <a:prstGeom prst="roundRect">
                <a:avLst>
                  <a:gd name="adj" fmla="val 5000"/>
                </a:avLst>
              </a:prstGeom>
              <a:noFill/>
              <a:ln w="11430">
                <a:solidFill>
                  <a:srgbClr val="2196F3">
                    <a:alpha val="70000"/>
                  </a:srgbClr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8191500" y="2238375"/>
                <a:ext cx="571500" cy="381000"/>
              </a:xfrm>
              <a:prstGeom prst="roundRect">
                <a:avLst>
                  <a:gd name="adj" fmla="val 5000"/>
                </a:avLst>
              </a:prstGeom>
              <a:noFill/>
              <a:ln w="11430">
                <a:solidFill>
                  <a:srgbClr val="2196F3">
                    <a:alpha val="70000"/>
                  </a:srgbClr>
                </a:solidFill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6858000" y="2762250"/>
                <a:ext cx="571500" cy="381000"/>
              </a:xfrm>
              <a:prstGeom prst="roundRect">
                <a:avLst>
                  <a:gd name="adj" fmla="val 5000"/>
                </a:avLst>
              </a:prstGeom>
              <a:noFill/>
              <a:ln w="11430">
                <a:solidFill>
                  <a:srgbClr val="2196F3">
                    <a:alpha val="70000"/>
                  </a:srgbClr>
                </a:solidFill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7524750" y="2762250"/>
                <a:ext cx="571500" cy="381000"/>
              </a:xfrm>
              <a:prstGeom prst="roundRect">
                <a:avLst>
                  <a:gd name="adj" fmla="val 5000"/>
                </a:avLst>
              </a:prstGeom>
              <a:noFill/>
              <a:ln w="11430">
                <a:solidFill>
                  <a:srgbClr val="2196F3">
                    <a:alpha val="70000"/>
                  </a:srgbClr>
                </a:solidFill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8191500" y="2762250"/>
                <a:ext cx="571500" cy="381000"/>
              </a:xfrm>
              <a:prstGeom prst="roundRect">
                <a:avLst>
                  <a:gd name="adj" fmla="val 5000"/>
                </a:avLst>
              </a:prstGeom>
              <a:noFill/>
              <a:ln w="11430">
                <a:solidFill>
                  <a:srgbClr val="2196F3">
                    <a:alpha val="70000"/>
                  </a:srgbClr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7138988" y="3141345"/>
                <a:ext cx="91843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rgbClr val="2196F3">
                        <a:alphaMod val="80000"/>
                      </a:srgbClr>
                    </a:solidFill>
                    <a:latin typeface="Consolas"/>
                    <a:ea typeface="Consolas"/>
                    <a:cs typeface="Consolas"/>
                  </a:rPr>
                  <a:t>CORES [0..23]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6667500" y="1524000"/>
              <a:ext cx="2286000" cy="2311241"/>
              <a:chOff x="6667500" y="1524000"/>
              <a:chExt cx="2286000" cy="2311241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6667500" y="1524000"/>
                <a:ext cx="2286000" cy="1905000"/>
              </a:xfrm>
              <a:prstGeom prst="roundRect">
                <a:avLst>
                  <a:gd name="adj" fmla="val 2000"/>
                </a:avLst>
              </a:prstGeom>
              <a:noFill/>
              <a:ln w="11430">
                <a:solidFill>
                  <a:srgbClr val="00BCD4">
                    <a:alpha val="50000"/>
                  </a:srgbClr>
                </a:solidFill>
                <a:custDash>
                  <a:ds d="500000" sp="333333"/>
                </a:custDash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7805738" y="3673316"/>
                <a:ext cx="1132042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20" dirty="0">
                    <a:solidFill>
                      <a:srgbClr val="00BCD4">
                        <a:alphaMod val="70000"/>
                      </a:srgbClr>
                    </a:solidFill>
                    <a:latin typeface="Consolas"/>
                    <a:ea typeface="Consolas"/>
                    <a:cs typeface="Consolas"/>
                  </a:rPr>
                  <a:t>INTERCONNECT (NoC)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9144000" y="1905000"/>
              <a:ext cx="1113321" cy="1692116"/>
              <a:chOff x="9144000" y="1905000"/>
              <a:chExt cx="1113321" cy="1692116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9144000" y="1905000"/>
                <a:ext cx="762000" cy="1333500"/>
              </a:xfrm>
              <a:prstGeom prst="roundRect">
                <a:avLst>
                  <a:gd name="adj" fmla="val 3750"/>
                </a:avLst>
              </a:prstGeom>
              <a:noFill/>
              <a:ln w="11430">
                <a:solidFill>
                  <a:srgbClr val="4DD0E1">
                    <a:alpha val="60000"/>
                  </a:srgbClr>
                </a:solidFill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9239250" y="2000250"/>
                <a:ext cx="571500" cy="190500"/>
              </a:xfrm>
              <a:prstGeom prst="roundRect">
                <a:avLst>
                  <a:gd name="adj" fmla="val 5000"/>
                </a:avLst>
              </a:prstGeom>
              <a:noFill/>
              <a:ln w="11430">
                <a:solidFill>
                  <a:srgbClr val="4DD0E1">
                    <a:alpha val="60000"/>
                  </a:srgbClr>
                </a:solidFill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9239250" y="2286000"/>
                <a:ext cx="571500" cy="190500"/>
              </a:xfrm>
              <a:prstGeom prst="roundRect">
                <a:avLst>
                  <a:gd name="adj" fmla="val 5000"/>
                </a:avLst>
              </a:prstGeom>
              <a:noFill/>
              <a:ln w="11430">
                <a:solidFill>
                  <a:srgbClr val="4DD0E1">
                    <a:alpha val="60000"/>
                  </a:srgbClr>
                </a:solidFill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9239250" y="2571750"/>
                <a:ext cx="571500" cy="190500"/>
              </a:xfrm>
              <a:prstGeom prst="roundRect">
                <a:avLst>
                  <a:gd name="adj" fmla="val 5000"/>
                </a:avLst>
              </a:prstGeom>
              <a:noFill/>
              <a:ln w="11430">
                <a:solidFill>
                  <a:srgbClr val="4DD0E1">
                    <a:alpha val="60000"/>
                  </a:srgbClr>
                </a:solidFill>
              </a:ln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9239250" y="2857500"/>
                <a:ext cx="571500" cy="190500"/>
              </a:xfrm>
              <a:prstGeom prst="roundRect">
                <a:avLst>
                  <a:gd name="adj" fmla="val 5000"/>
                </a:avLst>
              </a:prstGeom>
              <a:noFill/>
              <a:ln w="11430">
                <a:solidFill>
                  <a:srgbClr val="4DD0E1">
                    <a:alpha val="60000"/>
                  </a:srgbClr>
                </a:solidFill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9520238" y="3435191"/>
                <a:ext cx="737083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20" dirty="0">
                    <a:solidFill>
                      <a:srgbClr val="4DD0E1">
                        <a:alphaMod val="70000"/>
                      </a:srgbClr>
                    </a:solidFill>
                    <a:latin typeface="Consolas"/>
                    <a:ea typeface="Consolas"/>
                    <a:cs typeface="Consolas"/>
                  </a:rPr>
                  <a:t>DRAM (HBM2)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5905500" y="2190750"/>
              <a:ext cx="666750" cy="571500"/>
              <a:chOff x="5905500" y="2190750"/>
              <a:chExt cx="666750" cy="5715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5905500" y="2190750"/>
                <a:ext cx="666750" cy="571500"/>
              </a:xfrm>
              <a:prstGeom prst="roundRect">
                <a:avLst>
                  <a:gd name="adj" fmla="val 5000"/>
                </a:avLst>
              </a:prstGeom>
              <a:noFill/>
              <a:ln w="11430">
                <a:solidFill>
                  <a:srgbClr val="2196F3">
                    <a:alpha val="50000"/>
                  </a:srgbClr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5967412" y="2347912"/>
                <a:ext cx="537591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750" dirty="0">
                    <a:solidFill>
                      <a:srgbClr val="2196F3">
                        <a:alphaMod val="70000"/>
                      </a:srgbClr>
                    </a:solidFill>
                    <a:latin typeface="Consolas"/>
                    <a:ea typeface="Consolas"/>
                    <a:cs typeface="Consolas"/>
                  </a:rPr>
                  <a:t>SCHEDULER</a:t>
                </a:r>
              </a:p>
            </p:txBody>
          </p:sp>
        </p:grpSp>
        <p:sp>
          <p:nvSpPr>
            <p:cNvPr id="41" name="Line 41"/>
            <p:cNvSpPr/>
            <p:nvPr/>
          </p:nvSpPr>
          <p:spPr>
            <a:xfrm>
              <a:off x="6572250" y="2000250"/>
              <a:ext cx="285750" cy="476250"/>
            </a:xfrm>
            <a:custGeom>
              <a:avLst/>
              <a:gdLst/>
              <a:ahLst/>
              <a:cxnLst/>
              <a:rect l="l" t="t" r="r" b="b"/>
              <a:pathLst>
                <a:path w="285750" h="476250">
                  <a:moveTo>
                    <a:pt x="0" y="476250"/>
                  </a:moveTo>
                  <a:lnTo>
                    <a:pt x="285750" y="0"/>
                  </a:lnTo>
                </a:path>
              </a:pathLst>
            </a:custGeom>
            <a:noFill/>
            <a:ln w="7620">
              <a:solidFill>
                <a:srgbClr val="2196F3">
                  <a:alpha val="30000"/>
                </a:srgbClr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6572250" y="2000250"/>
              <a:ext cx="571500" cy="476250"/>
            </a:xfrm>
            <a:custGeom>
              <a:avLst/>
              <a:gdLst/>
              <a:ahLst/>
              <a:cxnLst/>
              <a:rect l="l" t="t" r="r" b="b"/>
              <a:pathLst>
                <a:path w="571500" h="476250">
                  <a:moveTo>
                    <a:pt x="0" y="476250"/>
                  </a:moveTo>
                  <a:lnTo>
                    <a:pt x="571500" y="0"/>
                  </a:lnTo>
                </a:path>
              </a:pathLst>
            </a:custGeom>
            <a:noFill/>
            <a:ln w="7620">
              <a:solidFill>
                <a:srgbClr val="2196F3">
                  <a:alpha val="30000"/>
                </a:srgbClr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8953500" y="20955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7620">
              <a:solidFill>
                <a:srgbClr val="00BCD4">
                  <a:alpha val="40000"/>
                </a:srgbClr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8953500" y="28575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7620">
              <a:solidFill>
                <a:srgbClr val="00BCD4">
                  <a:alpha val="40000"/>
                </a:srgbClr>
              </a:solidFill>
            </a:ln>
          </p:spPr>
        </p:sp>
        <p:sp>
          <p:nvSpPr>
            <p:cNvPr id="45" name="Polygon 45"/>
            <p:cNvSpPr/>
            <p:nvPr/>
          </p:nvSpPr>
          <p:spPr>
            <a:xfrm>
              <a:off x="9105900" y="2057400"/>
              <a:ext cx="38100" cy="76200"/>
            </a:xfrm>
            <a:custGeom>
              <a:avLst/>
              <a:gdLst/>
              <a:ahLst/>
              <a:cxnLst/>
              <a:rect l="l" t="t" r="r" b="b"/>
              <a:pathLst>
                <a:path w="38100" h="76200">
                  <a:moveTo>
                    <a:pt x="0" y="0"/>
                  </a:moveTo>
                  <a:lnTo>
                    <a:pt x="38100" y="381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BCD4">
                <a:alpha val="40000"/>
              </a:srgbClr>
            </a:solidFill>
            <a:ln>
              <a:noFill/>
            </a:ln>
          </p:spPr>
        </p:sp>
        <p:sp>
          <p:nvSpPr>
            <p:cNvPr id="46" name="Polygon 46"/>
            <p:cNvSpPr/>
            <p:nvPr/>
          </p:nvSpPr>
          <p:spPr>
            <a:xfrm>
              <a:off x="9105900" y="2819400"/>
              <a:ext cx="38100" cy="76200"/>
            </a:xfrm>
            <a:custGeom>
              <a:avLst/>
              <a:gdLst/>
              <a:ahLst/>
              <a:cxnLst/>
              <a:rect l="l" t="t" r="r" b="b"/>
              <a:pathLst>
                <a:path w="38100" h="76200">
                  <a:moveTo>
                    <a:pt x="38100" y="0"/>
                  </a:moveTo>
                  <a:lnTo>
                    <a:pt x="0" y="38100"/>
                  </a:lnTo>
                  <a:lnTo>
                    <a:pt x="38100" y="76200"/>
                  </a:lnTo>
                  <a:close/>
                </a:path>
              </a:pathLst>
            </a:custGeom>
            <a:solidFill>
              <a:srgbClr val="00BCD4">
                <a:alpha val="40000"/>
              </a:srgbClr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4762500" y="3200400"/>
              <a:ext cx="1143000" cy="76200"/>
              <a:chOff x="4762500" y="3200400"/>
              <a:chExt cx="1143000" cy="762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4762500" y="3238500"/>
                <a:ext cx="1143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9525">
                    <a:moveTo>
                      <a:pt x="0" y="0"/>
                    </a:moveTo>
                    <a:lnTo>
                      <a:pt x="1143000" y="0"/>
                    </a:lnTo>
                  </a:path>
                </a:pathLst>
              </a:custGeom>
              <a:noFill/>
              <a:ln w="11430">
                <a:solidFill>
                  <a:srgbClr val="00BCD4">
                    <a:alpha val="50000"/>
                  </a:srgbClr>
                </a:solidFill>
                <a:custDash>
                  <a:ds d="333333" sp="250000"/>
                </a:custDash>
              </a:ln>
            </p:spPr>
          </p:sp>
          <p:sp>
            <p:nvSpPr>
              <p:cNvPr id="48" name="Polygon 48"/>
              <p:cNvSpPr/>
              <p:nvPr/>
            </p:nvSpPr>
            <p:spPr>
              <a:xfrm>
                <a:off x="5829300" y="32004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0"/>
                    </a:moveTo>
                    <a:lnTo>
                      <a:pt x="76200" y="381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0BCD4">
                  <a:alpha val="50000"/>
                </a:srgbClr>
              </a:solidFill>
              <a:ln>
                <a:noFill/>
              </a:ln>
            </p:spPr>
          </p:sp>
        </p:grpSp>
        <p:grpSp>
          <p:nvGrpSpPr>
            <p:cNvPr id="56" name="Group 56"/>
            <p:cNvGrpSpPr/>
            <p:nvPr/>
          </p:nvGrpSpPr>
          <p:grpSpPr>
            <a:xfrm>
              <a:off x="3238500" y="2952750"/>
              <a:ext cx="1524000" cy="266700"/>
              <a:chOff x="3238500" y="2952750"/>
              <a:chExt cx="1524000" cy="26670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3238500" y="2952750"/>
                <a:ext cx="762000" cy="266700"/>
              </a:xfrm>
              <a:prstGeom prst="roundRect">
                <a:avLst>
                  <a:gd name="adj" fmla="val 7143"/>
                </a:avLst>
              </a:prstGeom>
              <a:noFill/>
              <a:ln w="11430">
                <a:solidFill>
                  <a:srgbClr val="4DD0E1">
                    <a:alpha val="50000"/>
                  </a:srgbClr>
                </a:solidFill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3290888" y="3052762"/>
                <a:ext cx="345567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750" dirty="0">
                    <a:solidFill>
                      <a:srgbClr val="4DD0E1">
                        <a:alphaMod val="70000"/>
                      </a:srgbClr>
                    </a:solidFill>
                    <a:latin typeface="Consolas"/>
                    <a:ea typeface="Consolas"/>
                    <a:cs typeface="Consolas"/>
                  </a:rPr>
                  <a:t>MODEL</a:t>
                </a:r>
              </a:p>
            </p:txBody>
          </p:sp>
          <p:sp>
            <p:nvSpPr>
              <p:cNvPr id="52" name="Rectangle 52"/>
              <p:cNvSpPr/>
              <p:nvPr/>
            </p:nvSpPr>
            <p:spPr>
              <a:xfrm>
                <a:off x="4095750" y="2952750"/>
                <a:ext cx="571500" cy="266700"/>
              </a:xfrm>
              <a:prstGeom prst="roundRect">
                <a:avLst>
                  <a:gd name="adj" fmla="val 7143"/>
                </a:avLst>
              </a:prstGeom>
              <a:noFill/>
              <a:ln w="11430">
                <a:solidFill>
                  <a:srgbClr val="4DD0E1">
                    <a:alpha val="50000"/>
                  </a:srgbClr>
                </a:solidFill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4138612" y="3052762"/>
                <a:ext cx="148209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750" dirty="0">
                    <a:solidFill>
                      <a:srgbClr val="4DD0E1">
                        <a:alphaMod val="70000"/>
                      </a:srgbClr>
                    </a:solidFill>
                    <a:latin typeface="Consolas"/>
                    <a:ea typeface="Consolas"/>
                    <a:cs typeface="Consolas"/>
                  </a:rPr>
                  <a:t>OP</a:t>
                </a:r>
              </a:p>
            </p:txBody>
          </p:sp>
          <p:sp>
            <p:nvSpPr>
              <p:cNvPr id="54" name="Freeform 54"/>
              <p:cNvSpPr/>
              <p:nvPr/>
            </p:nvSpPr>
            <p:spPr>
              <a:xfrm>
                <a:off x="4000500" y="3086100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11430">
                <a:solidFill>
                  <a:srgbClr val="4DD0E1">
                    <a:alpha val="50000"/>
                  </a:srgbClr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4667250" y="3086100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11430">
                <a:solidFill>
                  <a:srgbClr val="4DD0E1">
                    <a:alpha val="50000"/>
                  </a:srgbClr>
                </a:solidFill>
              </a:ln>
            </p:spPr>
          </p:sp>
        </p:grpSp>
        <p:grpSp>
          <p:nvGrpSpPr>
            <p:cNvPr id="67" name="Group 67"/>
            <p:cNvGrpSpPr/>
            <p:nvPr/>
          </p:nvGrpSpPr>
          <p:grpSpPr>
            <a:xfrm>
              <a:off x="6667500" y="1390650"/>
              <a:ext cx="2381250" cy="2047875"/>
              <a:chOff x="6667500" y="1390650"/>
              <a:chExt cx="2381250" cy="2047875"/>
            </a:xfrm>
          </p:grpSpPr>
          <p:sp>
            <p:nvSpPr>
              <p:cNvPr id="57" name="Line 57"/>
              <p:cNvSpPr/>
              <p:nvPr/>
            </p:nvSpPr>
            <p:spPr>
              <a:xfrm>
                <a:off x="6667500" y="1428750"/>
                <a:ext cx="95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0">
                    <a:moveTo>
                      <a:pt x="0" y="95250"/>
                    </a:moveTo>
                    <a:lnTo>
                      <a:pt x="0" y="0"/>
                    </a:lnTo>
                  </a:path>
                </a:pathLst>
              </a:custGeom>
              <a:noFill/>
              <a:ln w="4762">
                <a:solidFill>
                  <a:srgbClr val="607D8B">
                    <a:alpha val="40000"/>
                  </a:srgbClr>
                </a:solidFill>
              </a:ln>
            </p:spPr>
          </p:sp>
          <p:sp>
            <p:nvSpPr>
              <p:cNvPr id="58" name="Line 58"/>
              <p:cNvSpPr/>
              <p:nvPr/>
            </p:nvSpPr>
            <p:spPr>
              <a:xfrm>
                <a:off x="8953500" y="1428750"/>
                <a:ext cx="95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0">
                    <a:moveTo>
                      <a:pt x="0" y="95250"/>
                    </a:moveTo>
                    <a:lnTo>
                      <a:pt x="0" y="0"/>
                    </a:lnTo>
                  </a:path>
                </a:pathLst>
              </a:custGeom>
              <a:noFill/>
              <a:ln w="4762">
                <a:solidFill>
                  <a:srgbClr val="607D8B">
                    <a:alpha val="40000"/>
                  </a:srgbClr>
                </a:solidFill>
              </a:ln>
            </p:spPr>
          </p:sp>
          <p:sp>
            <p:nvSpPr>
              <p:cNvPr id="59" name="Line 59"/>
              <p:cNvSpPr/>
              <p:nvPr/>
            </p:nvSpPr>
            <p:spPr>
              <a:xfrm>
                <a:off x="6667500" y="1409700"/>
                <a:ext cx="2286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9525">
                    <a:moveTo>
                      <a:pt x="0" y="0"/>
                    </a:moveTo>
                    <a:lnTo>
                      <a:pt x="2286000" y="0"/>
                    </a:lnTo>
                  </a:path>
                </a:pathLst>
              </a:custGeom>
              <a:noFill/>
              <a:ln w="4762">
                <a:solidFill>
                  <a:srgbClr val="607D8B">
                    <a:alpha val="40000"/>
                  </a:srgbClr>
                </a:solidFill>
              </a:ln>
            </p:spPr>
          </p:sp>
          <p:sp>
            <p:nvSpPr>
              <p:cNvPr id="60" name="Polygon 60"/>
              <p:cNvSpPr/>
              <p:nvPr/>
            </p:nvSpPr>
            <p:spPr>
              <a:xfrm>
                <a:off x="6667500" y="1390650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19050"/>
                    </a:moveTo>
                    <a:lnTo>
                      <a:pt x="57150" y="0"/>
                    </a:lnTo>
                    <a:lnTo>
                      <a:pt x="57150" y="38100"/>
                    </a:lnTo>
                    <a:close/>
                  </a:path>
                </a:pathLst>
              </a:custGeom>
              <a:solidFill>
                <a:srgbClr val="607D8B">
                  <a:alpha val="40000"/>
                </a:srgbClr>
              </a:solidFill>
              <a:ln w="4762">
                <a:solidFill>
                  <a:srgbClr val="607D8B">
                    <a:alpha val="40000"/>
                  </a:srgbClr>
                </a:solidFill>
              </a:ln>
            </p:spPr>
          </p:sp>
          <p:sp>
            <p:nvSpPr>
              <p:cNvPr id="61" name="Polygon 61"/>
              <p:cNvSpPr/>
              <p:nvPr/>
            </p:nvSpPr>
            <p:spPr>
              <a:xfrm>
                <a:off x="8896350" y="1390650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57150" y="19050"/>
                    </a:moveTo>
                    <a:lnTo>
                      <a:pt x="0" y="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607D8B">
                  <a:alpha val="40000"/>
                </a:srgbClr>
              </a:solidFill>
              <a:ln w="4762">
                <a:solidFill>
                  <a:srgbClr val="607D8B">
                    <a:alpha val="40000"/>
                  </a:srgbClr>
                </a:solidFill>
              </a:ln>
            </p:spPr>
          </p:sp>
          <p:sp>
            <p:nvSpPr>
              <p:cNvPr id="62" name="Line 62"/>
              <p:cNvSpPr/>
              <p:nvPr/>
            </p:nvSpPr>
            <p:spPr>
              <a:xfrm>
                <a:off x="8953500" y="1524000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4762">
                <a:solidFill>
                  <a:srgbClr val="607D8B">
                    <a:alpha val="40000"/>
                  </a:srgbClr>
                </a:solidFill>
              </a:ln>
            </p:spPr>
          </p:sp>
          <p:sp>
            <p:nvSpPr>
              <p:cNvPr id="63" name="Line 63"/>
              <p:cNvSpPr/>
              <p:nvPr/>
            </p:nvSpPr>
            <p:spPr>
              <a:xfrm>
                <a:off x="8953500" y="3429000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4762">
                <a:solidFill>
                  <a:srgbClr val="607D8B">
                    <a:alpha val="40000"/>
                  </a:srgbClr>
                </a:solidFill>
              </a:ln>
            </p:spPr>
          </p:sp>
          <p:sp>
            <p:nvSpPr>
              <p:cNvPr id="64" name="Line 64"/>
              <p:cNvSpPr/>
              <p:nvPr/>
            </p:nvSpPr>
            <p:spPr>
              <a:xfrm>
                <a:off x="9029700" y="1524000"/>
                <a:ext cx="9525" cy="1905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00">
                    <a:moveTo>
                      <a:pt x="0" y="0"/>
                    </a:moveTo>
                    <a:lnTo>
                      <a:pt x="0" y="1905000"/>
                    </a:lnTo>
                  </a:path>
                </a:pathLst>
              </a:custGeom>
              <a:noFill/>
              <a:ln w="4762">
                <a:solidFill>
                  <a:srgbClr val="607D8B">
                    <a:alpha val="40000"/>
                  </a:srgbClr>
                </a:solidFill>
              </a:ln>
            </p:spPr>
          </p:sp>
          <p:sp>
            <p:nvSpPr>
              <p:cNvPr id="65" name="Polygon 65"/>
              <p:cNvSpPr/>
              <p:nvPr/>
            </p:nvSpPr>
            <p:spPr>
              <a:xfrm>
                <a:off x="9010650" y="1524000"/>
                <a:ext cx="381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57150">
                    <a:moveTo>
                      <a:pt x="19050" y="0"/>
                    </a:moveTo>
                    <a:lnTo>
                      <a:pt x="0" y="57150"/>
                    </a:lnTo>
                    <a:lnTo>
                      <a:pt x="38100" y="57150"/>
                    </a:lnTo>
                    <a:close/>
                  </a:path>
                </a:pathLst>
              </a:custGeom>
              <a:solidFill>
                <a:srgbClr val="607D8B">
                  <a:alpha val="40000"/>
                </a:srgbClr>
              </a:solidFill>
              <a:ln w="4762">
                <a:solidFill>
                  <a:srgbClr val="607D8B">
                    <a:alpha val="40000"/>
                  </a:srgbClr>
                </a:solidFill>
              </a:ln>
            </p:spPr>
          </p:sp>
          <p:sp>
            <p:nvSpPr>
              <p:cNvPr id="66" name="Polygon 66"/>
              <p:cNvSpPr/>
              <p:nvPr/>
            </p:nvSpPr>
            <p:spPr>
              <a:xfrm>
                <a:off x="9010650" y="3371850"/>
                <a:ext cx="381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57150">
                    <a:moveTo>
                      <a:pt x="19050" y="57150"/>
                    </a:moveTo>
                    <a:lnTo>
                      <a:pt x="0" y="0"/>
                    </a:lnTo>
                    <a:lnTo>
                      <a:pt x="38100" y="0"/>
                    </a:lnTo>
                    <a:close/>
                  </a:path>
                </a:pathLst>
              </a:custGeom>
              <a:solidFill>
                <a:srgbClr val="607D8B">
                  <a:alpha val="40000"/>
                </a:srgbClr>
              </a:solidFill>
              <a:ln w="4762">
                <a:solidFill>
                  <a:srgbClr val="607D8B">
                    <a:alpha val="40000"/>
                  </a:srgbClr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7710488" y="1287780"/>
              <a:ext cx="231648" cy="1190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00" dirty="0">
                  <a:solidFill>
                    <a:srgbClr val="607D8B">
                      <a:alphaMod val="50000"/>
                    </a:srgbClr>
                  </a:solidFill>
                  <a:latin typeface="Consolas"/>
                  <a:ea typeface="Consolas"/>
                  <a:cs typeface="Consolas"/>
                </a:rPr>
                <a:t>240px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101138" y="2459355"/>
              <a:ext cx="231648" cy="1190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00" dirty="0">
                  <a:solidFill>
                    <a:srgbClr val="607D8B">
                      <a:alphaMod val="50000"/>
                    </a:srgbClr>
                  </a:solidFill>
                  <a:latin typeface="Consolas"/>
                  <a:ea typeface="Consolas"/>
                  <a:cs typeface="Consolas"/>
                </a:rPr>
                <a:t>200px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476250" y="476250"/>
            <a:ext cx="11239500" cy="5905500"/>
            <a:chOff x="476250" y="476250"/>
            <a:chExt cx="11239500" cy="5905500"/>
          </a:xfrm>
        </p:grpSpPr>
        <p:sp>
          <p:nvSpPr>
            <p:cNvPr id="71" name="Freeform 71"/>
            <p:cNvSpPr/>
            <p:nvPr/>
          </p:nvSpPr>
          <p:spPr>
            <a:xfrm>
              <a:off x="476250" y="476250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0" y="285750"/>
                  </a:moveTo>
                  <a:lnTo>
                    <a:pt x="0" y="0"/>
                  </a:lnTo>
                  <a:lnTo>
                    <a:pt x="285750" y="0"/>
                  </a:lnTo>
                </a:path>
              </a:pathLst>
            </a:custGeom>
            <a:noFill/>
            <a:ln w="9525">
              <a:solidFill>
                <a:srgbClr val="2196F3">
                  <a:alpha val="50000"/>
                </a:srgbClr>
              </a:solidFill>
            </a:ln>
          </p:spPr>
        </p:sp>
        <p:sp>
          <p:nvSpPr>
            <p:cNvPr id="72" name="Freeform 72"/>
            <p:cNvSpPr/>
            <p:nvPr/>
          </p:nvSpPr>
          <p:spPr>
            <a:xfrm>
              <a:off x="11430000" y="476250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85750" y="285750"/>
                  </a:moveTo>
                  <a:lnTo>
                    <a:pt x="285750" y="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2196F3">
                  <a:alpha val="50000"/>
                </a:srgbClr>
              </a:solidFill>
            </a:ln>
          </p:spPr>
        </p:sp>
        <p:sp>
          <p:nvSpPr>
            <p:cNvPr id="73" name="Freeform 73"/>
            <p:cNvSpPr/>
            <p:nvPr/>
          </p:nvSpPr>
          <p:spPr>
            <a:xfrm>
              <a:off x="476250" y="6096000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0" y="0"/>
                  </a:moveTo>
                  <a:lnTo>
                    <a:pt x="0" y="285750"/>
                  </a:lnTo>
                  <a:lnTo>
                    <a:pt x="285750" y="285750"/>
                  </a:lnTo>
                </a:path>
              </a:pathLst>
            </a:custGeom>
            <a:noFill/>
            <a:ln w="9525">
              <a:solidFill>
                <a:srgbClr val="2196F3">
                  <a:alpha val="50000"/>
                </a:srgbClr>
              </a:solidFill>
            </a:ln>
          </p:spPr>
        </p:sp>
        <p:sp>
          <p:nvSpPr>
            <p:cNvPr id="74" name="Freeform 74"/>
            <p:cNvSpPr/>
            <p:nvPr/>
          </p:nvSpPr>
          <p:spPr>
            <a:xfrm>
              <a:off x="11430000" y="6096000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85750" y="0"/>
                  </a:moveTo>
                  <a:lnTo>
                    <a:pt x="285750" y="285750"/>
                  </a:lnTo>
                  <a:lnTo>
                    <a:pt x="0" y="285750"/>
                  </a:lnTo>
                </a:path>
              </a:pathLst>
            </a:custGeom>
            <a:noFill/>
            <a:ln w="9525">
              <a:solidFill>
                <a:srgbClr val="2196F3">
                  <a:alpha val="50000"/>
                </a:srgbClr>
              </a:solidFill>
            </a:ln>
          </p:spPr>
        </p:sp>
      </p:grpSp>
      <p:sp>
        <p:nvSpPr>
          <p:cNvPr id="76" name="TextBox 76"/>
          <p:cNvSpPr txBox="1"/>
          <p:nvPr/>
        </p:nvSpPr>
        <p:spPr>
          <a:xfrm>
            <a:off x="552450" y="1893570"/>
            <a:ext cx="1702408" cy="1047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5400" b="1" dirty="0">
                <a:solidFill>
                  <a:srgbClr val="ECEFF1">
                    <a:alphaMod val="95000"/>
                  </a:srgbClr>
                </a:solidFill>
                <a:latin typeface="Arial"/>
                <a:ea typeface="Arial"/>
                <a:cs typeface="Arial"/>
              </a:rPr>
              <a:t>Asim</a:t>
            </a:r>
          </a:p>
        </p:txBody>
      </p:sp>
      <p:sp>
        <p:nvSpPr>
          <p:cNvPr id="77" name="Rectangle 77"/>
          <p:cNvSpPr/>
          <p:nvPr/>
        </p:nvSpPr>
        <p:spPr>
          <a:xfrm>
            <a:off x="571500" y="2667000"/>
            <a:ext cx="1143000" cy="28575"/>
          </a:xfrm>
          <a:prstGeom prst="rect">
            <a:avLst/>
          </a:prstGeom>
          <a:solidFill>
            <a:srgbClr val="00BCD4">
              <a:alpha val="80000"/>
            </a:srgbClr>
          </a:solidFill>
          <a:ln>
            <a:noFill/>
          </a:ln>
        </p:spPr>
      </p:sp>
      <p:sp>
        <p:nvSpPr>
          <p:cNvPr id="78" name="TextBox 78"/>
          <p:cNvSpPr txBox="1"/>
          <p:nvPr/>
        </p:nvSpPr>
        <p:spPr>
          <a:xfrm>
            <a:off x="557784" y="2851785"/>
            <a:ext cx="396392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90A4AE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多核 NPU 周期级仿真器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562356" y="3520440"/>
            <a:ext cx="268376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07D8B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架构、流水线与基础算子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566166" y="5982652"/>
            <a:ext cx="5548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07D8B">
                    <a:alphaMod val="60000"/>
                  </a:srgbClr>
                </a:solidFill>
                <a:latin typeface="Consolas"/>
                <a:ea typeface="Consolas"/>
                <a:cs typeface="Consolas"/>
              </a:rPr>
              <a:t>2026-07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1368735" y="5982652"/>
            <a:ext cx="25709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07D8B">
                    <a:alphaMod val="60000"/>
                  </a:srgbClr>
                </a:solidFill>
                <a:latin typeface="Consolas"/>
                <a:ea typeface="Consolas"/>
                <a:cs typeface="Consolas"/>
              </a:rPr>
              <a:t>P01</a:t>
            </a:r>
          </a:p>
        </p:txBody>
      </p:sp>
      <p:sp>
        <p:nvSpPr>
          <p:cNvPr id="82" name="Rectangle 82"/>
          <p:cNvSpPr/>
          <p:nvPr/>
        </p:nvSpPr>
        <p:spPr>
          <a:xfrm>
            <a:off x="571500" y="6286500"/>
            <a:ext cx="11049000" cy="4762"/>
          </a:xfrm>
          <a:prstGeom prst="rect">
            <a:avLst/>
          </a:prstGeom>
          <a:solidFill>
            <a:srgbClr val="263238">
              <a:alpha val="50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30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30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30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1B2838">
                  <a:alpha val="30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1B2838">
                  <a:alpha val="30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1B2838">
                  <a:alpha val="30000"/>
                </a:srgbClr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381000" y="381000"/>
            <a:ext cx="11430000" cy="190500"/>
            <a:chOff x="381000" y="381000"/>
            <a:chExt cx="11430000" cy="190500"/>
          </a:xfrm>
        </p:grpSpPr>
        <p:sp>
          <p:nvSpPr>
            <p:cNvPr id="10" name="Freeform 10"/>
            <p:cNvSpPr/>
            <p:nvPr/>
          </p:nvSpPr>
          <p:spPr>
            <a:xfrm>
              <a:off x="381000" y="3810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190500"/>
                  </a:moveTo>
                  <a:lnTo>
                    <a:pt x="0" y="0"/>
                  </a:lnTo>
                  <a:lnTo>
                    <a:pt x="190500" y="0"/>
                  </a:lnTo>
                </a:path>
              </a:pathLst>
            </a:custGeom>
            <a:noFill/>
            <a:ln w="7620">
              <a:solidFill>
                <a:srgbClr val="2196F3">
                  <a:alpha val="30000"/>
                </a:srgbClr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1620500" y="3810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90500" y="190500"/>
                  </a:moveTo>
                  <a:lnTo>
                    <a:pt x="190500" y="0"/>
                  </a:lnTo>
                  <a:lnTo>
                    <a:pt x="0" y="0"/>
                  </a:lnTo>
                </a:path>
              </a:pathLst>
            </a:custGeom>
            <a:noFill/>
            <a:ln w="7620">
              <a:solidFill>
                <a:srgbClr val="2196F3">
                  <a:alpha val="30000"/>
                </a:srgbClr>
              </a:solidFill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553212" y="373380"/>
            <a:ext cx="2072030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ECEFF1"/>
                </a:solidFill>
                <a:latin typeface="Arial"/>
                <a:ea typeface="Microsoft YaHei"/>
                <a:cs typeface="Arial"/>
              </a:rPr>
              <a:t>项目概览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914400"/>
            <a:ext cx="762000" cy="19050"/>
          </a:xfrm>
          <a:prstGeom prst="rect">
            <a:avLst/>
          </a:prstGeom>
          <a:solidFill>
            <a:srgbClr val="00BCD4">
              <a:alpha val="70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60832" y="1154430"/>
            <a:ext cx="9044375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Asim 是一个显式建模 Core / NoC / DRAM 的多核 NPU 周期级仿真器，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0832" y="1468755"/>
            <a:ext cx="813115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服务于 MIMO 通信系统中矩阵求逆算子的指令级微架构优化。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571500" y="2095500"/>
            <a:ext cx="5334000" cy="2000250"/>
            <a:chOff x="571500" y="2095500"/>
            <a:chExt cx="5334000" cy="2000250"/>
          </a:xfrm>
        </p:grpSpPr>
        <p:sp>
          <p:nvSpPr>
            <p:cNvPr id="17" name="Rectangle 17"/>
            <p:cNvSpPr/>
            <p:nvPr/>
          </p:nvSpPr>
          <p:spPr>
            <a:xfrm>
              <a:off x="571500" y="2095500"/>
              <a:ext cx="5334000" cy="2000250"/>
            </a:xfrm>
            <a:prstGeom prst="roundRect">
              <a:avLst>
                <a:gd name="adj" fmla="val 1429"/>
              </a:avLst>
            </a:prstGeom>
            <a:solidFill>
              <a:srgbClr val="1B2838">
                <a:alpha val="60000"/>
              </a:srgbClr>
            </a:solidFill>
            <a:ln w="9525">
              <a:solidFill>
                <a:srgbClr val="26323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71500" y="2095500"/>
              <a:ext cx="1714500" cy="342900"/>
            </a:xfrm>
            <a:prstGeom prst="roundRect">
              <a:avLst>
                <a:gd name="adj" fmla="val 8333"/>
              </a:avLst>
            </a:prstGeom>
            <a:solidFill>
              <a:srgbClr val="2196F3">
                <a:alpha val="15000"/>
              </a:srgbClr>
            </a:solidFill>
            <a:ln w="7620">
              <a:solidFill>
                <a:srgbClr val="2196F3">
                  <a:alpha val="40000"/>
                </a:srgbClr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34568" y="214598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4DD0E1"/>
                  </a:solidFill>
                  <a:latin typeface="Arial"/>
                  <a:ea typeface="Microsoft YaHei"/>
                  <a:cs typeface="Arial"/>
                </a:rPr>
                <a:t>定位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4568" y="2584132"/>
              <a:ext cx="24223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CEFF1"/>
                  </a:solidFill>
                  <a:latin typeface="Arial"/>
                  <a:ea typeface="Microsoft YaHei"/>
                  <a:cs typeface="Arial"/>
                </a:rPr>
                <a:t>多核 NPU 周期级仿真器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6092" y="2902268"/>
              <a:ext cx="18169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0A4AE"/>
                  </a:solidFill>
                  <a:latin typeface="Arial"/>
                  <a:ea typeface="Arial"/>
                  <a:cs typeface="Arial"/>
                </a:rPr>
                <a:t>Forked from ONNXim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6092" y="3188018"/>
              <a:ext cx="26636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0A4AE"/>
                  </a:solidFill>
                  <a:latin typeface="Arial"/>
                  <a:ea typeface="Microsoft YaHei"/>
                  <a:cs typeface="Arial"/>
                </a:rPr>
                <a:t>基于类昇腾 910B 脉动阵列架构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6092" y="3473768"/>
              <a:ext cx="2327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0A4AE"/>
                  </a:solidFill>
                  <a:latin typeface="Arial"/>
                  <a:ea typeface="Microsoft YaHei"/>
                  <a:cs typeface="Arial"/>
                </a:rPr>
                <a:t>C++20 实现，周期精确建模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286500" y="2095500"/>
            <a:ext cx="5334000" cy="2000250"/>
            <a:chOff x="6286500" y="2095500"/>
            <a:chExt cx="5334000" cy="2000250"/>
          </a:xfrm>
        </p:grpSpPr>
        <p:sp>
          <p:nvSpPr>
            <p:cNvPr id="25" name="Rectangle 25"/>
            <p:cNvSpPr/>
            <p:nvPr/>
          </p:nvSpPr>
          <p:spPr>
            <a:xfrm>
              <a:off x="6286500" y="2095500"/>
              <a:ext cx="5334000" cy="2000250"/>
            </a:xfrm>
            <a:prstGeom prst="roundRect">
              <a:avLst>
                <a:gd name="adj" fmla="val 1429"/>
              </a:avLst>
            </a:prstGeom>
            <a:solidFill>
              <a:srgbClr val="1B2838">
                <a:alpha val="60000"/>
              </a:srgbClr>
            </a:solidFill>
            <a:ln w="9525">
              <a:solidFill>
                <a:srgbClr val="263238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86500" y="2095500"/>
              <a:ext cx="1714500" cy="342900"/>
            </a:xfrm>
            <a:prstGeom prst="roundRect">
              <a:avLst>
                <a:gd name="adj" fmla="val 8333"/>
              </a:avLst>
            </a:prstGeom>
            <a:solidFill>
              <a:srgbClr val="2196F3">
                <a:alpha val="15000"/>
              </a:srgbClr>
            </a:solidFill>
            <a:ln w="7620">
              <a:solidFill>
                <a:srgbClr val="2196F3">
                  <a:alpha val="40000"/>
                </a:srgbClr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49568" y="21459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4DD0E1"/>
                  </a:solidFill>
                  <a:latin typeface="Arial"/>
                  <a:ea typeface="Microsoft YaHei"/>
                  <a:cs typeface="Arial"/>
                </a:rPr>
                <a:t>硬件建模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51092" y="261651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196F3"/>
                  </a:solidFill>
                  <a:latin typeface="Consolas"/>
                  <a:ea typeface="Consolas"/>
                  <a:cs typeface="Consolas"/>
                </a:rPr>
                <a:t>24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36842" y="2616518"/>
              <a:ext cx="16758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CEFF1"/>
                  </a:solidFill>
                  <a:latin typeface="Arial"/>
                  <a:ea typeface="Microsoft YaHei"/>
                  <a:cs typeface="Arial"/>
                </a:rPr>
                <a:t>核 SystolicWS Core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51092" y="28832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196F3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60642" y="2883218"/>
              <a:ext cx="27411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CEFF1"/>
                  </a:solidFill>
                  <a:latin typeface="Arial"/>
                  <a:ea typeface="Microsoft YaHei"/>
                  <a:cs typeface="Arial"/>
                </a:rPr>
                <a:t>流水线：Cube / Vector / Scalar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51092" y="31499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196F3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60642" y="3149918"/>
              <a:ext cx="25013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CEFF1"/>
                  </a:solidFill>
                  <a:latin typeface="Arial"/>
                  <a:ea typeface="Microsoft YaHei"/>
                  <a:cs typeface="Arial"/>
                </a:rPr>
                <a:t>NoC 模型：Simple / BookSim2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51092" y="34166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196F3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60642" y="3416618"/>
              <a:ext cx="40500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CEFF1"/>
                  </a:solidFill>
                  <a:latin typeface="Arial"/>
                  <a:ea typeface="Microsoft YaHei"/>
                  <a:cs typeface="Arial"/>
                </a:rPr>
                <a:t>DRAM 模型：Simple / Ramulator1 / Ramulator2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51092" y="3683318"/>
              <a:ext cx="4745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196F3"/>
                  </a:solidFill>
                  <a:latin typeface="Consolas"/>
                  <a:ea typeface="Consolas"/>
                  <a:cs typeface="Consolas"/>
                </a:rPr>
                <a:t>HBM2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22592" y="3683318"/>
              <a:ext cx="26014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CEFF1"/>
                  </a:solidFill>
                  <a:latin typeface="Arial"/>
                  <a:ea typeface="Microsoft YaHei"/>
                  <a:cs typeface="Arial"/>
                </a:rPr>
                <a:t>32 通道，Ramulator2 周期模型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71500" y="4333875"/>
            <a:ext cx="6155145" cy="1524000"/>
            <a:chOff x="571500" y="4333875"/>
            <a:chExt cx="6155145" cy="1524000"/>
          </a:xfrm>
        </p:grpSpPr>
        <p:sp>
          <p:nvSpPr>
            <p:cNvPr id="39" name="Rectangle 39"/>
            <p:cNvSpPr/>
            <p:nvPr/>
          </p:nvSpPr>
          <p:spPr>
            <a:xfrm>
              <a:off x="571500" y="4333875"/>
              <a:ext cx="5334000" cy="1524000"/>
            </a:xfrm>
            <a:prstGeom prst="roundRect">
              <a:avLst>
                <a:gd name="adj" fmla="val 1875"/>
              </a:avLst>
            </a:prstGeom>
            <a:solidFill>
              <a:srgbClr val="1B2838">
                <a:alpha val="60000"/>
              </a:srgbClr>
            </a:solidFill>
            <a:ln w="9525">
              <a:solidFill>
                <a:srgbClr val="263238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71500" y="4333875"/>
              <a:ext cx="1714500" cy="342900"/>
            </a:xfrm>
            <a:prstGeom prst="roundRect">
              <a:avLst>
                <a:gd name="adj" fmla="val 8333"/>
              </a:avLst>
            </a:prstGeom>
            <a:solidFill>
              <a:srgbClr val="2196F3">
                <a:alpha val="15000"/>
              </a:srgbClr>
            </a:solidFill>
            <a:ln w="7620">
              <a:solidFill>
                <a:srgbClr val="2196F3">
                  <a:alpha val="40000"/>
                </a:srgbClr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34568" y="438435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4DD0E1"/>
                  </a:solidFill>
                  <a:latin typeface="Arial"/>
                  <a:ea typeface="Microsoft YaHei"/>
                  <a:cs typeface="Arial"/>
                </a:rPr>
                <a:t>核心场景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4568" y="4822508"/>
              <a:ext cx="30326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CEFF1"/>
                  </a:solidFill>
                  <a:latin typeface="Arial"/>
                  <a:ea typeface="Microsoft YaHei"/>
                  <a:cs typeface="Arial"/>
                </a:rPr>
                <a:t>MIMO 通信系统矩阵求逆算子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36092" y="5140642"/>
              <a:ext cx="59905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0A4AE"/>
                  </a:solidFill>
                  <a:latin typeface="Arial"/>
                  <a:ea typeface="Microsoft YaHei"/>
                  <a:cs typeface="Arial"/>
                </a:rPr>
                <a:t>7 种求逆算子（Cholesky / LDL / Newton-Schulz / Block-Richardson）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36092" y="5397818"/>
              <a:ext cx="31149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0A4AE"/>
                  </a:solidFill>
                  <a:latin typeface="Arial"/>
                  <a:ea typeface="Microsoft YaHei"/>
                  <a:cs typeface="Arial"/>
                </a:rPr>
                <a:t>LLM 驱动的自动化指令级微架构优化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286500" y="4333875"/>
            <a:ext cx="5334000" cy="1524000"/>
            <a:chOff x="6286500" y="4333875"/>
            <a:chExt cx="5334000" cy="1524000"/>
          </a:xfrm>
        </p:grpSpPr>
        <p:sp>
          <p:nvSpPr>
            <p:cNvPr id="46" name="Rectangle 46"/>
            <p:cNvSpPr/>
            <p:nvPr/>
          </p:nvSpPr>
          <p:spPr>
            <a:xfrm>
              <a:off x="6286500" y="4333875"/>
              <a:ext cx="5334000" cy="1524000"/>
            </a:xfrm>
            <a:prstGeom prst="roundRect">
              <a:avLst>
                <a:gd name="adj" fmla="val 1875"/>
              </a:avLst>
            </a:prstGeom>
            <a:solidFill>
              <a:srgbClr val="1B2838">
                <a:alpha val="60000"/>
              </a:srgbClr>
            </a:solidFill>
            <a:ln w="9525">
              <a:solidFill>
                <a:srgbClr val="263238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286500" y="4333875"/>
              <a:ext cx="1714500" cy="342900"/>
            </a:xfrm>
            <a:prstGeom prst="roundRect">
              <a:avLst>
                <a:gd name="adj" fmla="val 8333"/>
              </a:avLst>
            </a:prstGeom>
            <a:solidFill>
              <a:srgbClr val="2196F3">
                <a:alpha val="15000"/>
              </a:srgbClr>
            </a:solidFill>
            <a:ln w="7620">
              <a:solidFill>
                <a:srgbClr val="2196F3">
                  <a:alpha val="40000"/>
                </a:srgbClr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449568" y="438435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4DD0E1"/>
                  </a:solidFill>
                  <a:latin typeface="Arial"/>
                  <a:ea typeface="Microsoft YaHei"/>
                  <a:cs typeface="Arial"/>
                </a:rPr>
                <a:t>仿真输出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50330" y="4838700"/>
              <a:ext cx="12596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00BCD4"/>
                  </a:solidFill>
                  <a:latin typeface="Consolas"/>
                  <a:ea typeface="Consolas"/>
                  <a:cs typeface="Consolas"/>
                </a:rPr>
                <a:t>Cycle Counts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088630" y="4838700"/>
              <a:ext cx="12533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00BCD4"/>
                  </a:solidFill>
                  <a:latin typeface="Consolas"/>
                  <a:ea typeface="Consolas"/>
                  <a:cs typeface="Consolas"/>
                </a:rPr>
                <a:t>Utilization %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51092" y="5140642"/>
              <a:ext cx="28270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0A4AE"/>
                  </a:solidFill>
                  <a:latin typeface="Arial"/>
                  <a:ea typeface="Microsoft YaHei"/>
                  <a:cs typeface="Arial"/>
                </a:rPr>
                <a:t>周期计数（Core / DRAM / ICNT）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089392" y="5140642"/>
              <a:ext cx="26125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0A4AE"/>
                  </a:solidFill>
                  <a:latin typeface="Arial"/>
                  <a:ea typeface="Microsoft YaHei"/>
                  <a:cs typeface="Arial"/>
                </a:rPr>
                <a:t>Cube / Vector / Scalar 利用率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50330" y="5410200"/>
              <a:ext cx="9911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00BCD4"/>
                  </a:solidFill>
                  <a:latin typeface="Consolas"/>
                  <a:ea typeface="Consolas"/>
                  <a:cs typeface="Consolas"/>
                </a:rPr>
                <a:t>Trace CSV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088630" y="5410200"/>
              <a:ext cx="13615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00BCD4"/>
                  </a:solidFill>
                  <a:latin typeface="Consolas"/>
                  <a:ea typeface="Consolas"/>
                  <a:cs typeface="Consolas"/>
                </a:rPr>
                <a:t>Formula JSON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11368735" y="6506528"/>
            <a:ext cx="25709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07D8B">
                    <a:alphaMod val="50000"/>
                  </a:srgbClr>
                </a:solidFill>
                <a:latin typeface="Consolas"/>
                <a:ea typeface="Consolas"/>
                <a:cs typeface="Consolas"/>
              </a:rPr>
              <a:t>P02</a:t>
            </a:r>
          </a:p>
        </p:txBody>
      </p:sp>
      <p:sp>
        <p:nvSpPr>
          <p:cNvPr id="57" name="Rectangle 57"/>
          <p:cNvSpPr/>
          <p:nvPr/>
        </p:nvSpPr>
        <p:spPr>
          <a:xfrm>
            <a:off x="571500" y="6429375"/>
            <a:ext cx="11049000" cy="4762"/>
          </a:xfrm>
          <a:prstGeom prst="rect">
            <a:avLst/>
          </a:prstGeom>
          <a:solidFill>
            <a:srgbClr val="263238">
              <a:alpha val="40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152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25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25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25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25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1B2838">
                  <a:alpha val="25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1B2838">
                  <a:alpha val="25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1B2838">
                  <a:alpha val="25000"/>
                </a:srgbClr>
              </a:solidFill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553212" y="278130"/>
            <a:ext cx="3598621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ECEFF1"/>
                </a:solidFill>
                <a:latin typeface="Arial"/>
                <a:ea typeface="Microsoft YaHei"/>
                <a:cs typeface="Arial"/>
              </a:rPr>
              <a:t>仿真器整体架构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71500" y="819150"/>
            <a:ext cx="762000" cy="19050"/>
          </a:xfrm>
          <a:prstGeom prst="rect">
            <a:avLst/>
          </a:prstGeom>
          <a:solidFill>
            <a:srgbClr val="00BCD4">
              <a:alpha val="70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563118" y="1012508"/>
            <a:ext cx="875639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Simulator 作为中心调度者，统一管理 7 大子系统，通过三域时间推进实现周期精确仿真</a:t>
            </a:r>
          </a:p>
        </p:txBody>
      </p:sp>
      <p:grpSp>
        <p:nvGrpSpPr>
          <p:cNvPr id="73" name="Group 73"/>
          <p:cNvGrpSpPr/>
          <p:nvPr/>
        </p:nvGrpSpPr>
        <p:grpSpPr>
          <a:xfrm>
            <a:off x="571500" y="1619250"/>
            <a:ext cx="11049000" cy="4381500"/>
            <a:chOff x="571500" y="1619250"/>
            <a:chExt cx="11049000" cy="4381500"/>
          </a:xfrm>
        </p:grpSpPr>
        <p:grpSp>
          <p:nvGrpSpPr>
            <p:cNvPr id="17" name="Group 17"/>
            <p:cNvGrpSpPr/>
            <p:nvPr/>
          </p:nvGrpSpPr>
          <p:grpSpPr>
            <a:xfrm>
              <a:off x="4857750" y="2952750"/>
              <a:ext cx="2476500" cy="762000"/>
              <a:chOff x="4857750" y="2952750"/>
              <a:chExt cx="2476500" cy="7620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4857750" y="2952750"/>
                <a:ext cx="2476500" cy="762000"/>
              </a:xfrm>
              <a:prstGeom prst="roundRect">
                <a:avLst>
                  <a:gd name="adj" fmla="val 7500"/>
                </a:avLst>
              </a:prstGeom>
              <a:solidFill>
                <a:srgbClr val="1B2838">
                  <a:alpha val="90000"/>
                </a:srgbClr>
              </a:solidFill>
              <a:ln w="19050">
                <a:solidFill>
                  <a:srgbClr val="2196F3">
                    <a:alpha val="80000"/>
                  </a:srgbClr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5491582" y="3091815"/>
                <a:ext cx="120883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ECEFF1"/>
                    </a:solidFill>
                    <a:latin typeface="Consolas"/>
                    <a:ea typeface="Consolas"/>
                    <a:cs typeface="Consolas"/>
                  </a:rPr>
                  <a:t>Simulator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161283" y="3429952"/>
                <a:ext cx="186943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90A4AE"/>
                    </a:solidFill>
                    <a:latin typeface="Arial"/>
                    <a:ea typeface="Microsoft YaHei"/>
                    <a:cs typeface="Arial"/>
                  </a:rPr>
                  <a:t>全局事件循环 · 三域时间推进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5143500" y="1619250"/>
              <a:ext cx="1905000" cy="1333500"/>
              <a:chOff x="5143500" y="1619250"/>
              <a:chExt cx="1905000" cy="13335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5143500" y="1619250"/>
                <a:ext cx="1905000" cy="523875"/>
              </a:xfrm>
              <a:prstGeom prst="roundRect">
                <a:avLst>
                  <a:gd name="adj" fmla="val 7273"/>
                </a:avLst>
              </a:prstGeom>
              <a:solidFill>
                <a:srgbClr val="1B2838">
                  <a:alpha val="80000"/>
                </a:srgbClr>
              </a:solidFill>
              <a:ln w="11430">
                <a:solidFill>
                  <a:srgbClr val="2196F3">
                    <a:alpha val="60000"/>
                  </a:srgbClr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5637886" y="1711642"/>
                <a:ext cx="91622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ECEFF1"/>
                    </a:solidFill>
                    <a:latin typeface="Consolas"/>
                    <a:ea typeface="Consolas"/>
                    <a:cs typeface="Consolas"/>
                  </a:rPr>
                  <a:t>Scheduler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5651968" y="1941195"/>
                <a:ext cx="88806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90A4AE"/>
                    </a:solidFill>
                    <a:latin typeface="Arial"/>
                    <a:ea typeface="Microsoft YaHei"/>
                    <a:cs typeface="Arial"/>
                  </a:rPr>
                  <a:t>Tile 分发 → 多核</a:t>
                </a:r>
              </a:p>
            </p:txBody>
          </p:sp>
          <p:sp>
            <p:nvSpPr>
              <p:cNvPr id="21" name="Line 21"/>
              <p:cNvSpPr/>
              <p:nvPr/>
            </p:nvSpPr>
            <p:spPr>
              <a:xfrm>
                <a:off x="6096000" y="2143125"/>
                <a:ext cx="9525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09625">
                    <a:moveTo>
                      <a:pt x="0" y="809625"/>
                    </a:move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rgbClr val="2196F3">
                    <a:alpha val="50000"/>
                  </a:srgbClr>
                </a:solidFill>
              </a:ln>
            </p:spPr>
          </p:sp>
          <p:sp>
            <p:nvSpPr>
              <p:cNvPr id="22" name="Polygon 22"/>
              <p:cNvSpPr/>
              <p:nvPr/>
            </p:nvSpPr>
            <p:spPr>
              <a:xfrm>
                <a:off x="6057900" y="214312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76200"/>
                    </a:moveTo>
                    <a:lnTo>
                      <a:pt x="38100" y="0"/>
                    </a:lnTo>
                    <a:lnTo>
                      <a:pt x="76200" y="76200"/>
                    </a:lnTo>
                    <a:close/>
                  </a:path>
                </a:pathLst>
              </a:custGeom>
              <a:solidFill>
                <a:srgbClr val="2196F3">
                  <a:alpha val="50000"/>
                </a:srgbClr>
              </a:solidFill>
              <a:ln>
                <a:noFill/>
              </a:ln>
            </p:spPr>
          </p:sp>
        </p:grpSp>
        <p:grpSp>
          <p:nvGrpSpPr>
            <p:cNvPr id="41" name="Group 41"/>
            <p:cNvGrpSpPr/>
            <p:nvPr/>
          </p:nvGrpSpPr>
          <p:grpSpPr>
            <a:xfrm>
              <a:off x="571500" y="1905000"/>
              <a:ext cx="4572000" cy="2857500"/>
              <a:chOff x="571500" y="1905000"/>
              <a:chExt cx="4572000" cy="28575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71500" y="2286000"/>
                <a:ext cx="3429000" cy="2476500"/>
              </a:xfrm>
              <a:prstGeom prst="roundRect">
                <a:avLst>
                  <a:gd name="adj" fmla="val 1923"/>
                </a:avLst>
              </a:prstGeom>
              <a:noFill/>
              <a:ln w="9525">
                <a:solidFill>
                  <a:srgbClr val="00BCD4">
                    <a:alpha val="40000"/>
                  </a:srgbClr>
                </a:solidFill>
                <a:custDash>
                  <a:ds d="600000" sp="400000"/>
                </a:custDash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2060372" y="2096452"/>
                <a:ext cx="45125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00BCD4">
                        <a:alphaMod val="60000"/>
                      </a:srgbClr>
                    </a:solidFill>
                    <a:latin typeface="Consolas"/>
                    <a:ea typeface="Consolas"/>
                    <a:cs typeface="Consolas"/>
                  </a:rPr>
                  <a:t>CORES</a:t>
                </a: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762000" y="2476500"/>
                <a:ext cx="952500" cy="428625"/>
              </a:xfrm>
              <a:prstGeom prst="roundRect">
                <a:avLst>
                  <a:gd name="adj" fmla="val 6667"/>
                </a:avLst>
              </a:prstGeom>
              <a:solidFill>
                <a:srgbClr val="1B2838">
                  <a:alpha val="70000"/>
                </a:srgbClr>
              </a:solidFill>
              <a:ln w="7620">
                <a:solidFill>
                  <a:srgbClr val="263238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956965" y="2553652"/>
                <a:ext cx="5625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ECEFF1"/>
                    </a:solidFill>
                    <a:latin typeface="Consolas"/>
                    <a:ea typeface="Consolas"/>
                    <a:cs typeface="Consolas"/>
                  </a:rPr>
                  <a:t>Core[0]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66521" y="2738438"/>
                <a:ext cx="543458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750" dirty="0">
                    <a:solidFill>
                      <a:srgbClr val="607D8B"/>
                    </a:solidFill>
                    <a:latin typeface="Segoe UI"/>
                    <a:ea typeface="Segoe UI"/>
                    <a:cs typeface="Segoe UI"/>
                  </a:rPr>
                  <a:t>SystolicWS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1809750" y="2476500"/>
                <a:ext cx="952500" cy="428625"/>
              </a:xfrm>
              <a:prstGeom prst="roundRect">
                <a:avLst>
                  <a:gd name="adj" fmla="val 6667"/>
                </a:avLst>
              </a:prstGeom>
              <a:solidFill>
                <a:srgbClr val="1B2838">
                  <a:alpha val="70000"/>
                </a:srgbClr>
              </a:solidFill>
              <a:ln w="7620">
                <a:solidFill>
                  <a:srgbClr val="263238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2004715" y="2553652"/>
                <a:ext cx="5625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ECEFF1"/>
                    </a:solidFill>
                    <a:latin typeface="Consolas"/>
                    <a:ea typeface="Consolas"/>
                    <a:cs typeface="Consolas"/>
                  </a:rPr>
                  <a:t>Core[1]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2014271" y="2738438"/>
                <a:ext cx="543458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750" dirty="0">
                    <a:solidFill>
                      <a:srgbClr val="607D8B"/>
                    </a:solidFill>
                    <a:latin typeface="Segoe UI"/>
                    <a:ea typeface="Segoe UI"/>
                    <a:cs typeface="Segoe UI"/>
                  </a:rPr>
                  <a:t>SystolicWS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2857500" y="2476500"/>
                <a:ext cx="952500" cy="428625"/>
              </a:xfrm>
              <a:prstGeom prst="roundRect">
                <a:avLst>
                  <a:gd name="adj" fmla="val 6667"/>
                </a:avLst>
              </a:prstGeom>
              <a:solidFill>
                <a:srgbClr val="1B2838">
                  <a:alpha val="70000"/>
                </a:srgbClr>
              </a:solidFill>
              <a:ln w="7620">
                <a:solidFill>
                  <a:srgbClr val="263238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3013043" y="2553652"/>
                <a:ext cx="64141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ECEFF1"/>
                    </a:solidFill>
                    <a:latin typeface="Consolas"/>
                    <a:ea typeface="Consolas"/>
                    <a:cs typeface="Consolas"/>
                  </a:rPr>
                  <a:t>Core[23]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3062021" y="2738438"/>
                <a:ext cx="543458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750" dirty="0">
                    <a:solidFill>
                      <a:srgbClr val="607D8B"/>
                    </a:solidFill>
                    <a:latin typeface="Segoe UI"/>
                    <a:ea typeface="Segoe UI"/>
                    <a:cs typeface="Segoe UI"/>
                  </a:rPr>
                  <a:t>SystolicWS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2181282" y="3046095"/>
                <a:ext cx="209436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rgbClr val="607D8B"/>
                    </a:solidFill>
                    <a:latin typeface="Consolas"/>
                    <a:ea typeface="Consolas"/>
                    <a:cs typeface="Consolas"/>
                  </a:rPr>
                  <a:t>...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841911" y="3410902"/>
                <a:ext cx="88817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4DD0E1"/>
                    </a:solidFill>
                    <a:latin typeface="Segoe UI"/>
                    <a:ea typeface="Segoe UI"/>
                    <a:cs typeface="Segoe UI"/>
                  </a:rPr>
                  <a:t>Cube Pipeline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764125" y="3620452"/>
                <a:ext cx="1043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4DD0E1"/>
                    </a:solidFill>
                    <a:latin typeface="Segoe UI"/>
                    <a:ea typeface="Segoe UI"/>
                    <a:cs typeface="Segoe UI"/>
                  </a:rPr>
                  <a:t>Vector Pipeline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781937" y="3830002"/>
                <a:ext cx="100812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4DD0E1"/>
                    </a:solidFill>
                    <a:latin typeface="Segoe UI"/>
                    <a:ea typeface="Segoe UI"/>
                    <a:cs typeface="Segoe UI"/>
                  </a:rPr>
                  <a:t>Scalar Pipeline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1553680" y="4149566"/>
                <a:ext cx="1464640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820" dirty="0">
                    <a:solidFill>
                      <a:srgbClr val="607D8B"/>
                    </a:solidFill>
                    <a:latin typeface="Consolas"/>
                    <a:ea typeface="Consolas"/>
                    <a:cs typeface="Consolas"/>
                  </a:rPr>
                  <a:t>SPAD 256KB + ACCUM 256KB</a:t>
                </a:r>
              </a:p>
            </p:txBody>
          </p:sp>
          <p:sp>
            <p:nvSpPr>
              <p:cNvPr id="40" name="Line 40"/>
              <p:cNvSpPr/>
              <p:nvPr/>
            </p:nvSpPr>
            <p:spPr>
              <a:xfrm>
                <a:off x="4000500" y="1905000"/>
                <a:ext cx="1143000" cy="133350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1333500">
                    <a:moveTo>
                      <a:pt x="1143000" y="0"/>
                    </a:moveTo>
                    <a:lnTo>
                      <a:pt x="0" y="1333500"/>
                    </a:lnTo>
                  </a:path>
                </a:pathLst>
              </a:custGeom>
              <a:noFill/>
              <a:ln w="7620">
                <a:solidFill>
                  <a:srgbClr val="2196F3">
                    <a:alpha val="40000"/>
                  </a:srgbClr>
                </a:solidFill>
                <a:custDash>
                  <a:ds d="500000" sp="375000"/>
                </a:custDash>
              </a:ln>
            </p:spPr>
          </p:sp>
        </p:grpSp>
        <p:grpSp>
          <p:nvGrpSpPr>
            <p:cNvPr id="48" name="Group 48"/>
            <p:cNvGrpSpPr/>
            <p:nvPr/>
          </p:nvGrpSpPr>
          <p:grpSpPr>
            <a:xfrm>
              <a:off x="7334250" y="2286000"/>
              <a:ext cx="4286250" cy="1143000"/>
              <a:chOff x="7334250" y="2286000"/>
              <a:chExt cx="4286250" cy="114300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9906000" y="2286000"/>
                <a:ext cx="1714500" cy="1143000"/>
              </a:xfrm>
              <a:prstGeom prst="roundRect">
                <a:avLst>
                  <a:gd name="adj" fmla="val 3333"/>
                </a:avLst>
              </a:prstGeom>
              <a:solidFill>
                <a:srgbClr val="1B2838">
                  <a:alpha val="80000"/>
                </a:srgbClr>
              </a:solidFill>
              <a:ln w="11430">
                <a:solidFill>
                  <a:srgbClr val="4DD0E1">
                    <a:alpha val="60000"/>
                  </a:srgbClr>
                </a:solidFill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10514442" y="2473642"/>
                <a:ext cx="49761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ECEFF1"/>
                    </a:solidFill>
                    <a:latin typeface="Consolas"/>
                    <a:ea typeface="Consolas"/>
                    <a:cs typeface="Consolas"/>
                  </a:rPr>
                  <a:t>DRAM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0213343" y="2733199"/>
                <a:ext cx="109981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rgbClr val="90A4AE"/>
                    </a:solidFill>
                    <a:latin typeface="Segoe UI"/>
                    <a:ea typeface="Segoe UI"/>
                    <a:cs typeface="Segoe UI"/>
                  </a:rPr>
                  <a:t>Ramulator2 HBM2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10535164" y="2923699"/>
                <a:ext cx="45617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90A4AE"/>
                    </a:solidFill>
                    <a:latin typeface="Segoe UI"/>
                    <a:ea typeface="Microsoft YaHei"/>
                    <a:cs typeface="Segoe UI"/>
                  </a:rPr>
                  <a:t>32 通道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10364534" y="3114199"/>
                <a:ext cx="79743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90A4AE"/>
                    </a:solidFill>
                    <a:latin typeface="Segoe UI"/>
                    <a:ea typeface="Microsoft YaHei"/>
                    <a:cs typeface="Segoe UI"/>
                  </a:rPr>
                  <a:t>周期精确模型</a:t>
                </a:r>
              </a:p>
            </p:txBody>
          </p:sp>
          <p:sp>
            <p:nvSpPr>
              <p:cNvPr id="47" name="Line 47"/>
              <p:cNvSpPr/>
              <p:nvPr/>
            </p:nvSpPr>
            <p:spPr>
              <a:xfrm>
                <a:off x="7334250" y="2857500"/>
                <a:ext cx="25717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2571750" h="476250">
                    <a:moveTo>
                      <a:pt x="0" y="476250"/>
                    </a:moveTo>
                    <a:lnTo>
                      <a:pt x="2571750" y="0"/>
                    </a:lnTo>
                  </a:path>
                </a:pathLst>
              </a:custGeom>
              <a:noFill/>
              <a:ln w="7620">
                <a:solidFill>
                  <a:srgbClr val="4DD0E1">
                    <a:alpha val="40000"/>
                  </a:srgbClr>
                </a:solidFill>
                <a:custDash>
                  <a:ds d="500000" sp="375000"/>
                </a:custDash>
              </a:ln>
            </p:spPr>
          </p:sp>
        </p:grpSp>
        <p:grpSp>
          <p:nvGrpSpPr>
            <p:cNvPr id="56" name="Group 56"/>
            <p:cNvGrpSpPr/>
            <p:nvPr/>
          </p:nvGrpSpPr>
          <p:grpSpPr>
            <a:xfrm>
              <a:off x="4000500" y="3619500"/>
              <a:ext cx="7620000" cy="1333500"/>
              <a:chOff x="4000500" y="3619500"/>
              <a:chExt cx="7620000" cy="1333500"/>
            </a:xfrm>
          </p:grpSpPr>
          <p:sp>
            <p:nvSpPr>
              <p:cNvPr id="49" name="Rectangle 49"/>
              <p:cNvSpPr/>
              <p:nvPr/>
            </p:nvSpPr>
            <p:spPr>
              <a:xfrm>
                <a:off x="9715500" y="4000500"/>
                <a:ext cx="1905000" cy="952500"/>
              </a:xfrm>
              <a:prstGeom prst="roundRect">
                <a:avLst>
                  <a:gd name="adj" fmla="val 4000"/>
                </a:avLst>
              </a:prstGeom>
              <a:solidFill>
                <a:srgbClr val="1B2838">
                  <a:alpha val="80000"/>
                </a:srgbClr>
              </a:solidFill>
              <a:ln w="11430">
                <a:solidFill>
                  <a:srgbClr val="00BCD4">
                    <a:alpha val="60000"/>
                  </a:srgbClr>
                </a:solidFill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10052418" y="4188142"/>
                <a:ext cx="123116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ECEFF1"/>
                    </a:solidFill>
                    <a:latin typeface="Consolas"/>
                    <a:ea typeface="Consolas"/>
                    <a:cs typeface="Consolas"/>
                  </a:rPr>
                  <a:t>Interconnect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9918360" y="4447699"/>
                <a:ext cx="149928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90A4AE"/>
                    </a:solidFill>
                    <a:latin typeface="Segoe UI"/>
                    <a:ea typeface="Microsoft YaHei"/>
                    <a:cs typeface="Segoe UI"/>
                  </a:rPr>
                  <a:t>NoC：Simple / BookSim2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10116058" y="4638199"/>
                <a:ext cx="110388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90A4AE"/>
                    </a:solidFill>
                    <a:latin typeface="Segoe UI"/>
                    <a:ea typeface="Microsoft YaHei"/>
                    <a:cs typeface="Segoe UI"/>
                  </a:rPr>
                  <a:t>Core ↔ DRAM 路由</a:t>
                </a:r>
              </a:p>
            </p:txBody>
          </p:sp>
          <p:sp>
            <p:nvSpPr>
              <p:cNvPr id="53" name="Line 53"/>
              <p:cNvSpPr/>
              <p:nvPr/>
            </p:nvSpPr>
            <p:spPr>
              <a:xfrm>
                <a:off x="4000500" y="4000500"/>
                <a:ext cx="571500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5715000" h="476250">
                    <a:moveTo>
                      <a:pt x="0" y="0"/>
                    </a:moveTo>
                    <a:lnTo>
                      <a:pt x="5715000" y="476250"/>
                    </a:lnTo>
                  </a:path>
                </a:pathLst>
              </a:custGeom>
              <a:noFill/>
              <a:ln w="7620">
                <a:solidFill>
                  <a:srgbClr val="00BCD4">
                    <a:alpha val="30000"/>
                  </a:srgbClr>
                </a:solidFill>
                <a:custDash>
                  <a:ds d="500000" sp="375000"/>
                </a:custDash>
              </a:ln>
            </p:spPr>
          </p:sp>
          <p:sp>
            <p:nvSpPr>
              <p:cNvPr id="54" name="Polygon 54"/>
              <p:cNvSpPr/>
              <p:nvPr/>
            </p:nvSpPr>
            <p:spPr>
              <a:xfrm>
                <a:off x="9639300" y="44386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0"/>
                    </a:moveTo>
                    <a:lnTo>
                      <a:pt x="76200" y="381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0BCD4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55" name="Line 55"/>
              <p:cNvSpPr/>
              <p:nvPr/>
            </p:nvSpPr>
            <p:spPr>
              <a:xfrm>
                <a:off x="7334250" y="3619500"/>
                <a:ext cx="238125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2381250" h="571500">
                    <a:moveTo>
                      <a:pt x="0" y="0"/>
                    </a:moveTo>
                    <a:lnTo>
                      <a:pt x="2381250" y="571500"/>
                    </a:lnTo>
                  </a:path>
                </a:pathLst>
              </a:custGeom>
              <a:noFill/>
              <a:ln w="7620">
                <a:solidFill>
                  <a:srgbClr val="00BCD4">
                    <a:alpha val="30000"/>
                  </a:srgbClr>
                </a:solidFill>
              </a:ln>
            </p:spPr>
          </p:sp>
        </p:grpSp>
        <p:grpSp>
          <p:nvGrpSpPr>
            <p:cNvPr id="62" name="Group 62"/>
            <p:cNvGrpSpPr/>
            <p:nvPr/>
          </p:nvGrpSpPr>
          <p:grpSpPr>
            <a:xfrm>
              <a:off x="571500" y="1809750"/>
              <a:ext cx="4572000" cy="4191000"/>
              <a:chOff x="571500" y="1809750"/>
              <a:chExt cx="4572000" cy="4191000"/>
            </a:xfrm>
          </p:grpSpPr>
          <p:sp>
            <p:nvSpPr>
              <p:cNvPr id="57" name="Rectangle 57"/>
              <p:cNvSpPr/>
              <p:nvPr/>
            </p:nvSpPr>
            <p:spPr>
              <a:xfrm>
                <a:off x="571500" y="5143500"/>
                <a:ext cx="4000500" cy="857250"/>
              </a:xfrm>
              <a:prstGeom prst="roundRect">
                <a:avLst>
                  <a:gd name="adj" fmla="val 4444"/>
                </a:avLst>
              </a:prstGeom>
              <a:solidFill>
                <a:srgbClr val="1B2838">
                  <a:alpha val="80000"/>
                </a:srgbClr>
              </a:solidFill>
              <a:ln w="9525">
                <a:solidFill>
                  <a:srgbClr val="4DD0E1">
                    <a:alpha val="50000"/>
                  </a:srgbClr>
                </a:solidFill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805222" y="5302568"/>
                <a:ext cx="353305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ECEFF1"/>
                    </a:solidFill>
                    <a:latin typeface="Consolas"/>
                    <a:ea typeface="Consolas"/>
                    <a:cs typeface="Consolas"/>
                  </a:rPr>
                  <a:t>Model → Operation → Tile → Instruction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1093465" y="5590699"/>
                <a:ext cx="295657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90A4AE"/>
                    </a:solidFill>
                    <a:latin typeface="Segoe UI"/>
                    <a:ea typeface="Microsoft YaHei"/>
                    <a:cs typeface="Segoe UI"/>
                  </a:rPr>
                  <a:t>张量计算图 → 算子实现 → 工作单元 → 原子执行单元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1451134" y="5781199"/>
                <a:ext cx="224123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90A4AE"/>
                    </a:solidFill>
                    <a:latin typeface="Segoe UI"/>
                    <a:ea typeface="Microsoft YaHei"/>
                    <a:cs typeface="Segoe UI"/>
                  </a:rPr>
                  <a:t>三层执行模型：仿真器的核心设计范式</a:t>
                </a:r>
              </a:p>
            </p:txBody>
          </p:sp>
          <p:sp>
            <p:nvSpPr>
              <p:cNvPr id="61" name="Line 61"/>
              <p:cNvSpPr/>
              <p:nvPr/>
            </p:nvSpPr>
            <p:spPr>
              <a:xfrm>
                <a:off x="2571750" y="1809750"/>
                <a:ext cx="2571750" cy="3333750"/>
              </a:xfrm>
              <a:custGeom>
                <a:avLst/>
                <a:gdLst/>
                <a:ahLst/>
                <a:cxnLst/>
                <a:rect l="l" t="t" r="r" b="b"/>
                <a:pathLst>
                  <a:path w="2571750" h="3333750">
                    <a:moveTo>
                      <a:pt x="2571750" y="0"/>
                    </a:moveTo>
                    <a:lnTo>
                      <a:pt x="0" y="3333750"/>
                    </a:lnTo>
                  </a:path>
                </a:pathLst>
              </a:custGeom>
              <a:noFill/>
              <a:ln w="7620">
                <a:solidFill>
                  <a:srgbClr val="4DD0E1">
                    <a:alpha val="30000"/>
                  </a:srgbClr>
                </a:solidFill>
                <a:custDash>
                  <a:ds d="500000" sp="375000"/>
                </a:custDash>
              </a:ln>
            </p:spPr>
          </p:sp>
        </p:grpSp>
        <p:grpSp>
          <p:nvGrpSpPr>
            <p:cNvPr id="69" name="Group 69"/>
            <p:cNvGrpSpPr/>
            <p:nvPr/>
          </p:nvGrpSpPr>
          <p:grpSpPr>
            <a:xfrm>
              <a:off x="4953000" y="3714750"/>
              <a:ext cx="2095500" cy="2286000"/>
              <a:chOff x="4953000" y="3714750"/>
              <a:chExt cx="2095500" cy="2286000"/>
            </a:xfrm>
          </p:grpSpPr>
          <p:sp>
            <p:nvSpPr>
              <p:cNvPr id="63" name="Rectangle 63"/>
              <p:cNvSpPr/>
              <p:nvPr/>
            </p:nvSpPr>
            <p:spPr>
              <a:xfrm>
                <a:off x="4953000" y="5143500"/>
                <a:ext cx="2095500" cy="857250"/>
              </a:xfrm>
              <a:prstGeom prst="roundRect">
                <a:avLst>
                  <a:gd name="adj" fmla="val 4444"/>
                </a:avLst>
              </a:prstGeom>
              <a:solidFill>
                <a:srgbClr val="1B2838">
                  <a:alpha val="80000"/>
                </a:srgbClr>
              </a:solidFill>
              <a:ln w="9525">
                <a:solidFill>
                  <a:srgbClr val="2196F3">
                    <a:alpha val="50000"/>
                  </a:srgbClr>
                </a:solidFill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5387255" y="5318760"/>
                <a:ext cx="122699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ECEFF1"/>
                    </a:solidFill>
                    <a:latin typeface="Consolas"/>
                    <a:ea typeface="Consolas"/>
                    <a:cs typeface="Consolas"/>
                  </a:rPr>
                  <a:t>FormulaLogger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5102447" y="5570220"/>
                <a:ext cx="179660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90A4AE"/>
                    </a:solidFill>
                    <a:latin typeface="Segoe UI"/>
                    <a:ea typeface="Microsoft YaHei"/>
                    <a:cs typeface="Segoe UI"/>
                  </a:rPr>
                  <a:t>数学语义 → formula_steps.json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5255567" y="5760720"/>
                <a:ext cx="1490366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rgbClr val="90A4AE"/>
                    </a:solidFill>
                    <a:latin typeface="Segoe UI"/>
                    <a:ea typeface="Segoe UI"/>
                    <a:cs typeface="Segoe UI"/>
                  </a:rPr>
                  <a:t>TraceLogger → trace.csv</a:t>
                </a:r>
              </a:p>
            </p:txBody>
          </p:sp>
          <p:sp>
            <p:nvSpPr>
              <p:cNvPr id="67" name="Line 67"/>
              <p:cNvSpPr/>
              <p:nvPr/>
            </p:nvSpPr>
            <p:spPr>
              <a:xfrm>
                <a:off x="6000750" y="3714750"/>
                <a:ext cx="95250" cy="14287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428750">
                    <a:moveTo>
                      <a:pt x="95250" y="0"/>
                    </a:moveTo>
                    <a:lnTo>
                      <a:pt x="0" y="1428750"/>
                    </a:lnTo>
                  </a:path>
                </a:pathLst>
              </a:custGeom>
              <a:noFill/>
              <a:ln w="7620">
                <a:solidFill>
                  <a:srgbClr val="2196F3">
                    <a:alpha val="40000"/>
                  </a:srgbClr>
                </a:solidFill>
              </a:ln>
            </p:spPr>
          </p:sp>
          <p:sp>
            <p:nvSpPr>
              <p:cNvPr id="68" name="Polygon 68"/>
              <p:cNvSpPr/>
              <p:nvPr/>
            </p:nvSpPr>
            <p:spPr>
              <a:xfrm>
                <a:off x="5962650" y="50673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76200" y="0"/>
                    </a:moveTo>
                    <a:lnTo>
                      <a:pt x="38100" y="76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196F3">
                  <a:alpha val="40000"/>
                </a:srgbClr>
              </a:solidFill>
              <a:ln>
                <a:noFill/>
              </a:ln>
            </p:spPr>
          </p:sp>
        </p:grpSp>
        <p:grpSp>
          <p:nvGrpSpPr>
            <p:cNvPr id="72" name="Group 72"/>
            <p:cNvGrpSpPr/>
            <p:nvPr/>
          </p:nvGrpSpPr>
          <p:grpSpPr>
            <a:xfrm>
              <a:off x="4000500" y="2857500"/>
              <a:ext cx="5715000" cy="1333500"/>
              <a:chOff x="4000500" y="2857500"/>
              <a:chExt cx="5715000" cy="1333500"/>
            </a:xfrm>
          </p:grpSpPr>
          <p:sp>
            <p:nvSpPr>
              <p:cNvPr id="70" name="Line 70"/>
              <p:cNvSpPr/>
              <p:nvPr/>
            </p:nvSpPr>
            <p:spPr>
              <a:xfrm>
                <a:off x="4000500" y="2857500"/>
                <a:ext cx="5715000" cy="1333500"/>
              </a:xfrm>
              <a:custGeom>
                <a:avLst/>
                <a:gdLst/>
                <a:ahLst/>
                <a:cxnLst/>
                <a:rect l="l" t="t" r="r" b="b"/>
                <a:pathLst>
                  <a:path w="5715000" h="1333500">
                    <a:moveTo>
                      <a:pt x="0" y="0"/>
                    </a:moveTo>
                    <a:lnTo>
                      <a:pt x="5715000" y="1333500"/>
                    </a:lnTo>
                  </a:path>
                </a:pathLst>
              </a:custGeom>
              <a:noFill/>
              <a:ln w="7620">
                <a:solidFill>
                  <a:srgbClr val="00BCD4">
                    <a:alpha val="40000"/>
                  </a:srgbClr>
                </a:solidFill>
                <a:custDash>
                  <a:ds d="375000" sp="375000"/>
                </a:custDash>
              </a:ln>
            </p:spPr>
          </p:sp>
          <p:sp>
            <p:nvSpPr>
              <p:cNvPr id="71" name="Line 71"/>
              <p:cNvSpPr/>
              <p:nvPr/>
            </p:nvSpPr>
            <p:spPr>
              <a:xfrm>
                <a:off x="4000500" y="4000500"/>
                <a:ext cx="57150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5715000" h="190500">
                    <a:moveTo>
                      <a:pt x="0" y="0"/>
                    </a:moveTo>
                    <a:lnTo>
                      <a:pt x="5715000" y="190500"/>
                    </a:lnTo>
                  </a:path>
                </a:pathLst>
              </a:custGeom>
              <a:noFill/>
              <a:ln w="7620">
                <a:solidFill>
                  <a:srgbClr val="00BCD4">
                    <a:alpha val="40000"/>
                  </a:srgbClr>
                </a:solidFill>
              </a:ln>
            </p:spPr>
          </p:sp>
        </p:grpSp>
      </p:grpSp>
      <p:sp>
        <p:nvSpPr>
          <p:cNvPr id="74" name="TextBox 74"/>
          <p:cNvSpPr txBox="1"/>
          <p:nvPr/>
        </p:nvSpPr>
        <p:spPr>
          <a:xfrm>
            <a:off x="11368735" y="6506528"/>
            <a:ext cx="25709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07D8B">
                    <a:alphaMod val="50000"/>
                  </a:srgbClr>
                </a:solidFill>
                <a:latin typeface="Consolas"/>
                <a:ea typeface="Consolas"/>
                <a:cs typeface="Consolas"/>
              </a:rPr>
              <a:t>P03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0" y="1524000"/>
            <a:ext cx="12192000" cy="4581525"/>
            <a:chOff x="0" y="1524000"/>
            <a:chExt cx="12192000" cy="4581525"/>
          </a:xfrm>
        </p:grpSpPr>
        <p:sp>
          <p:nvSpPr>
            <p:cNvPr id="3" name="Line 3"/>
            <p:cNvSpPr/>
            <p:nvPr/>
          </p:nvSpPr>
          <p:spPr>
            <a:xfrm>
              <a:off x="0" y="152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25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25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25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25000"/>
                </a:srgbClr>
              </a:solidFill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553212" y="278130"/>
            <a:ext cx="3089758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ECEFF1"/>
                </a:solidFill>
                <a:latin typeface="Arial"/>
                <a:ea typeface="Microsoft YaHei"/>
                <a:cs typeface="Arial"/>
              </a:rPr>
              <a:t>三层执行模型</a:t>
            </a:r>
          </a:p>
        </p:txBody>
      </p:sp>
      <p:sp>
        <p:nvSpPr>
          <p:cNvPr id="9" name="Rectangle 9"/>
          <p:cNvSpPr/>
          <p:nvPr/>
        </p:nvSpPr>
        <p:spPr>
          <a:xfrm>
            <a:off x="571500" y="819150"/>
            <a:ext cx="762000" cy="19050"/>
          </a:xfrm>
          <a:prstGeom prst="rect">
            <a:avLst/>
          </a:prstGeom>
          <a:solidFill>
            <a:srgbClr val="00BCD4">
              <a:alpha val="70000"/>
            </a:srgbClr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563118" y="1012508"/>
            <a:ext cx="686679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Model → Operation → Tile → Instruction 是仿真器最核心的设计范式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571500" y="1524000"/>
            <a:ext cx="11049000" cy="4191000"/>
            <a:chOff x="571500" y="1524000"/>
            <a:chExt cx="11049000" cy="4191000"/>
          </a:xfrm>
        </p:grpSpPr>
        <p:grpSp>
          <p:nvGrpSpPr>
            <p:cNvPr id="17" name="Group 17"/>
            <p:cNvGrpSpPr/>
            <p:nvPr/>
          </p:nvGrpSpPr>
          <p:grpSpPr>
            <a:xfrm>
              <a:off x="571500" y="1524000"/>
              <a:ext cx="11049000" cy="1238250"/>
              <a:chOff x="571500" y="1524000"/>
              <a:chExt cx="11049000" cy="123825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571500" y="1524000"/>
                <a:ext cx="11049000" cy="1238250"/>
              </a:xfrm>
              <a:prstGeom prst="roundRect">
                <a:avLst>
                  <a:gd name="adj" fmla="val 3077"/>
                </a:avLst>
              </a:prstGeom>
              <a:solidFill>
                <a:srgbClr val="1B2838">
                  <a:alpha val="70000"/>
                </a:srgbClr>
              </a:solidFill>
              <a:ln w="11430">
                <a:solidFill>
                  <a:srgbClr val="2196F3">
                    <a:alpha val="60000"/>
                  </a:srgbClr>
                </a:solidFill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571500" y="1524000"/>
                <a:ext cx="419100" cy="1238250"/>
              </a:xfrm>
              <a:prstGeom prst="roundRect">
                <a:avLst>
                  <a:gd name="adj" fmla="val 9091"/>
                </a:avLst>
              </a:prstGeom>
              <a:solidFill>
                <a:srgbClr val="2196F3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637131" y="2060258"/>
                <a:ext cx="28783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rgbClr val="2196F3"/>
                    </a:solidFill>
                    <a:latin typeface="Consolas"/>
                    <a:ea typeface="Consolas"/>
                    <a:cs typeface="Consolas"/>
                  </a:rPr>
                  <a:t>L1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227582" y="1678305"/>
                <a:ext cx="293325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ECEFF1"/>
                    </a:solidFill>
                    <a:latin typeface="Arial"/>
                    <a:ea typeface="Microsoft YaHei"/>
                    <a:cs typeface="Arial"/>
                  </a:rPr>
                  <a:t>Model（张量计算图）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229868" y="2060258"/>
                <a:ext cx="547746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90A4AE"/>
                    </a:solidFill>
                    <a:latin typeface="Arial"/>
                    <a:ea typeface="Microsoft YaHei"/>
                    <a:cs typeface="Arial"/>
                  </a:rPr>
                  <a:t>创建 Operation 节点，通过 Tensor 边连接形成计算图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231392" y="2378392"/>
                <a:ext cx="539183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07D8B"/>
                    </a:solidFill>
                    <a:latin typeface="Consolas"/>
                    <a:ea typeface="Microsoft YaHei"/>
                    <a:cs typeface="Consolas"/>
                  </a:rPr>
                  <a:t>initialize_model() → 构建 Operation 依赖图 → initialize_tiles()</a:t>
                </a:r>
              </a:p>
            </p:txBody>
          </p:sp>
        </p:grpSp>
        <p:sp>
          <p:nvSpPr>
            <p:cNvPr id="18" name="Polygon 18"/>
            <p:cNvSpPr/>
            <p:nvPr/>
          </p:nvSpPr>
          <p:spPr>
            <a:xfrm>
              <a:off x="6000750" y="2819400"/>
              <a:ext cx="190500" cy="133350"/>
            </a:xfrm>
            <a:custGeom>
              <a:avLst/>
              <a:gdLst/>
              <a:ahLst/>
              <a:cxnLst/>
              <a:rect l="l" t="t" r="r" b="b"/>
              <a:pathLst>
                <a:path w="190500" h="133350">
                  <a:moveTo>
                    <a:pt x="0" y="0"/>
                  </a:moveTo>
                  <a:lnTo>
                    <a:pt x="95250" y="13335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2196F3">
                <a:alpha val="60000"/>
              </a:srgbClr>
            </a:solidFill>
            <a:ln>
              <a:noFill/>
            </a:ln>
          </p:spPr>
        </p:sp>
        <p:sp>
          <p:nvSpPr>
            <p:cNvPr id="19" name="Line 19"/>
            <p:cNvSpPr/>
            <p:nvPr/>
          </p:nvSpPr>
          <p:spPr>
            <a:xfrm>
              <a:off x="6096000" y="276225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4288">
              <a:solidFill>
                <a:srgbClr val="2196F3">
                  <a:alpha val="60000"/>
                </a:srgbClr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81166" y="2801302"/>
              <a:ext cx="5840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07D8B"/>
                  </a:solidFill>
                  <a:latin typeface="Consolas"/>
                  <a:ea typeface="Microsoft YaHei"/>
                  <a:cs typeface="Consolas"/>
                </a:rPr>
                <a:t>生成 Tile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571500" y="3000375"/>
              <a:ext cx="11049000" cy="1238250"/>
              <a:chOff x="571500" y="3000375"/>
              <a:chExt cx="11049000" cy="123825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571500" y="3000375"/>
                <a:ext cx="11049000" cy="1238250"/>
              </a:xfrm>
              <a:prstGeom prst="roundRect">
                <a:avLst>
                  <a:gd name="adj" fmla="val 3077"/>
                </a:avLst>
              </a:prstGeom>
              <a:solidFill>
                <a:srgbClr val="1B2838">
                  <a:alpha val="70000"/>
                </a:srgbClr>
              </a:solidFill>
              <a:ln w="11430">
                <a:solidFill>
                  <a:srgbClr val="00BCD4">
                    <a:alpha val="60000"/>
                  </a:srgbClr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571500" y="3000375"/>
                <a:ext cx="419100" cy="1238250"/>
              </a:xfrm>
              <a:prstGeom prst="roundRect">
                <a:avLst>
                  <a:gd name="adj" fmla="val 9091"/>
                </a:avLst>
              </a:prstGeom>
              <a:solidFill>
                <a:srgbClr val="00BCD4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37131" y="3536632"/>
                <a:ext cx="28783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rgbClr val="00BCD4"/>
                    </a:solidFill>
                    <a:latin typeface="Consolas"/>
                    <a:ea typeface="Consolas"/>
                    <a:cs typeface="Consolas"/>
                  </a:rPr>
                  <a:t>L2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227582" y="3154680"/>
                <a:ext cx="327721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ECEFF1"/>
                    </a:solidFill>
                    <a:latin typeface="Arial"/>
                    <a:ea typeface="Microsoft YaHei"/>
                    <a:cs typeface="Arial"/>
                  </a:rPr>
                  <a:t>Operation（算子实现）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229868" y="3536632"/>
                <a:ext cx="809476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90A4AE"/>
                    </a:solidFill>
                    <a:latin typeface="Arial"/>
                    <a:ea typeface="Microsoft YaHei"/>
                    <a:cs typeface="Arial"/>
                  </a:rPr>
                  <a:t>按 batch 拆分生成 Tile，每个 Tile 调用 initialize_instructions() 生成指令序列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231392" y="3854768"/>
                <a:ext cx="57111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607D8B"/>
                    </a:solidFill>
                    <a:latin typeface="Consolas"/>
                    <a:ea typeface="Consolas"/>
                    <a:cs typeface="Consolas"/>
                  </a:rPr>
                  <a:t>initialize_tiles() → for each batch → initialize_instructions(tile)</a:t>
                </a:r>
              </a:p>
            </p:txBody>
          </p:sp>
        </p:grpSp>
        <p:sp>
          <p:nvSpPr>
            <p:cNvPr id="28" name="Polygon 28"/>
            <p:cNvSpPr/>
            <p:nvPr/>
          </p:nvSpPr>
          <p:spPr>
            <a:xfrm>
              <a:off x="6000750" y="4295775"/>
              <a:ext cx="190500" cy="133350"/>
            </a:xfrm>
            <a:custGeom>
              <a:avLst/>
              <a:gdLst/>
              <a:ahLst/>
              <a:cxnLst/>
              <a:rect l="l" t="t" r="r" b="b"/>
              <a:pathLst>
                <a:path w="190500" h="133350">
                  <a:moveTo>
                    <a:pt x="0" y="0"/>
                  </a:moveTo>
                  <a:lnTo>
                    <a:pt x="95250" y="13335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00BCD4">
                <a:alpha val="60000"/>
              </a:srgbClr>
            </a:solidFill>
            <a:ln>
              <a:noFill/>
            </a:ln>
          </p:spPr>
        </p:sp>
        <p:sp>
          <p:nvSpPr>
            <p:cNvPr id="29" name="Line 29"/>
            <p:cNvSpPr/>
            <p:nvPr/>
          </p:nvSpPr>
          <p:spPr>
            <a:xfrm>
              <a:off x="6096000" y="4238625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4288">
              <a:solidFill>
                <a:srgbClr val="00BCD4">
                  <a:alpha val="60000"/>
                </a:srgbClr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281166" y="427767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07D8B"/>
                  </a:solidFill>
                  <a:latin typeface="Consolas"/>
                  <a:ea typeface="Microsoft YaHei"/>
                  <a:cs typeface="Consolas"/>
                </a:rPr>
                <a:t>生成指令序列</a:t>
              </a:r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571500" y="4476750"/>
              <a:ext cx="11049000" cy="1238250"/>
              <a:chOff x="571500" y="4476750"/>
              <a:chExt cx="11049000" cy="123825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571500" y="4476750"/>
                <a:ext cx="11049000" cy="1238250"/>
              </a:xfrm>
              <a:prstGeom prst="roundRect">
                <a:avLst>
                  <a:gd name="adj" fmla="val 3077"/>
                </a:avLst>
              </a:prstGeom>
              <a:solidFill>
                <a:srgbClr val="1B2838">
                  <a:alpha val="70000"/>
                </a:srgbClr>
              </a:solidFill>
              <a:ln w="11430">
                <a:solidFill>
                  <a:srgbClr val="4DD0E1">
                    <a:alpha val="60000"/>
                  </a:srgbClr>
                </a:solidFill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571500" y="4476750"/>
                <a:ext cx="419100" cy="1238250"/>
              </a:xfrm>
              <a:prstGeom prst="roundRect">
                <a:avLst>
                  <a:gd name="adj" fmla="val 9091"/>
                </a:avLst>
              </a:prstGeom>
              <a:solidFill>
                <a:srgbClr val="4DD0E1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637131" y="5013008"/>
                <a:ext cx="28783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rgbClr val="4DD0E1"/>
                    </a:solidFill>
                    <a:latin typeface="Consolas"/>
                    <a:ea typeface="Consolas"/>
                    <a:cs typeface="Consolas"/>
                  </a:rPr>
                  <a:t>L3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227582" y="4631055"/>
                <a:ext cx="406417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ECEFF1"/>
                    </a:solidFill>
                    <a:latin typeface="Arial"/>
                    <a:ea typeface="Microsoft YaHei"/>
                    <a:cs typeface="Arial"/>
                  </a:rPr>
                  <a:t>Instruction（原子执行单元）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229868" y="5013008"/>
                <a:ext cx="759115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90A4AE"/>
                    </a:solidFill>
                    <a:latin typeface="Arial"/>
                    <a:ea typeface="Microsoft YaHei"/>
                    <a:cs typeface="Arial"/>
                  </a:rPr>
                  <a:t>每条指令携带 opcode / src_addr / dest_addr / tile 维度 / compute_size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231392" y="5331142"/>
                <a:ext cx="636010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607D8B"/>
                    </a:solidFill>
                    <a:latin typeface="Consolas"/>
                    <a:ea typeface="Consolas"/>
                    <a:cs typeface="Consolas"/>
                  </a:rPr>
                  <a:t>MOVIN → GEMM_PRELOAD → GEMM → ADD → SCALAR_SQRT → ... → MOVOUT</a:t>
                </a:r>
              </a:p>
            </p:txBody>
          </p:sp>
        </p:grpSp>
      </p:grpSp>
      <p:grpSp>
        <p:nvGrpSpPr>
          <p:cNvPr id="41" name="Group 41"/>
          <p:cNvGrpSpPr/>
          <p:nvPr/>
        </p:nvGrpSpPr>
        <p:grpSpPr>
          <a:xfrm>
            <a:off x="565404" y="6014085"/>
            <a:ext cx="7588606" cy="425196"/>
            <a:chOff x="565404" y="6014085"/>
            <a:chExt cx="7588606" cy="425196"/>
          </a:xfrm>
        </p:grpSpPr>
        <p:sp>
          <p:nvSpPr>
            <p:cNvPr id="39" name="TextBox 39"/>
            <p:cNvSpPr txBox="1"/>
            <p:nvPr/>
          </p:nvSpPr>
          <p:spPr>
            <a:xfrm>
              <a:off x="565404" y="6014085"/>
              <a:ext cx="66235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07D8B"/>
                  </a:solidFill>
                  <a:latin typeface="Consolas"/>
                  <a:ea typeface="Consolas"/>
                  <a:cs typeface="Consolas"/>
                </a:rPr>
                <a:t>Instruction { Opcode opcode; addr_type dest_addr; vector&lt;addr_type&gt; src_addrs;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65404" y="6204585"/>
              <a:ext cx="75886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07D8B"/>
                  </a:solidFill>
                  <a:latin typeface="Consolas"/>
                  <a:ea typeface="Consolas"/>
                  <a:cs typeface="Consolas"/>
                </a:rPr>
                <a:t>uint32_t compute_size; uint32_t tile_m, tile_k, tile_n; cycle_type start_cycle, finish_cycle; }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1368735" y="6506528"/>
            <a:ext cx="25709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07D8B">
                    <a:alphaMod val="50000"/>
                  </a:srgbClr>
                </a:solidFill>
                <a:latin typeface="Consolas"/>
                <a:ea typeface="Consolas"/>
                <a:cs typeface="Consolas"/>
              </a:rPr>
              <a:t>P04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0" y="1143000"/>
            <a:ext cx="12192000" cy="4581525"/>
            <a:chOff x="0" y="1143000"/>
            <a:chExt cx="12192000" cy="4581525"/>
          </a:xfrm>
        </p:grpSpPr>
        <p:sp>
          <p:nvSpPr>
            <p:cNvPr id="3" name="Line 3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25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25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25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25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0" y="571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25000"/>
                </a:srgbClr>
              </a:solidFill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553212" y="230505"/>
            <a:ext cx="6142939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ECEFF1"/>
                </a:solidFill>
                <a:latin typeface="Arial"/>
                <a:ea typeface="Microsoft YaHei"/>
                <a:cs typeface="Arial"/>
              </a:rPr>
              <a:t>仿真主循环：三域时间推进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771525"/>
            <a:ext cx="762000" cy="19050"/>
          </a:xfrm>
          <a:prstGeom prst="rect">
            <a:avLst/>
          </a:prstGeom>
          <a:solidFill>
            <a:srgbClr val="00BCD4">
              <a:alpha val="70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63880" y="885825"/>
            <a:ext cx="754213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set_cycle_mask() 比较 Core / DRAM / ICNT 三域时间戳，实现异构频率精确交错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571500" y="1428750"/>
            <a:ext cx="7048500" cy="3286125"/>
            <a:chOff x="571500" y="1428750"/>
            <a:chExt cx="7048500" cy="3286125"/>
          </a:xfrm>
        </p:grpSpPr>
        <p:sp>
          <p:nvSpPr>
            <p:cNvPr id="12" name="Rectangle 12"/>
            <p:cNvSpPr/>
            <p:nvPr/>
          </p:nvSpPr>
          <p:spPr>
            <a:xfrm>
              <a:off x="1143000" y="1428750"/>
              <a:ext cx="3048000" cy="533400"/>
            </a:xfrm>
            <a:prstGeom prst="roundRect">
              <a:avLst>
                <a:gd name="adj" fmla="val 7143"/>
              </a:avLst>
            </a:prstGeom>
            <a:solidFill>
              <a:srgbClr val="1B2838">
                <a:alpha val="80000"/>
              </a:srgbClr>
            </a:solidFill>
            <a:ln w="14288">
              <a:solidFill>
                <a:srgbClr val="2196F3">
                  <a:alpha val="70000"/>
                </a:srgbClr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752967" y="1495425"/>
              <a:ext cx="18280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ECEFF1"/>
                  </a:solidFill>
                  <a:latin typeface="Consolas"/>
                  <a:ea typeface="Consolas"/>
                  <a:cs typeface="Consolas"/>
                </a:rPr>
                <a:t>while (running())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005774" y="1761649"/>
              <a:ext cx="13224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90A4AE"/>
                  </a:solidFill>
                  <a:latin typeface="Segoe UI"/>
                  <a:ea typeface="Microsoft YaHei"/>
                  <a:cs typeface="Segoe UI"/>
                </a:rPr>
                <a:t>所有组件都空闲时退出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2667000" y="196215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11430">
              <a:solidFill>
                <a:srgbClr val="2196F3">
                  <a:alpha val="50000"/>
                </a:srgbClr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2628900" y="2133600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76200" h="57150">
                  <a:moveTo>
                    <a:pt x="0" y="0"/>
                  </a:moveTo>
                  <a:lnTo>
                    <a:pt x="38100" y="571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2196F3">
                <a:alpha val="50000"/>
              </a:srgbClr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143000" y="2238375"/>
              <a:ext cx="3048000" cy="533400"/>
            </a:xfrm>
            <a:prstGeom prst="roundRect">
              <a:avLst>
                <a:gd name="adj" fmla="val 7143"/>
              </a:avLst>
            </a:prstGeom>
            <a:solidFill>
              <a:srgbClr val="1B2838">
                <a:alpha val="80000"/>
              </a:srgbClr>
            </a:solidFill>
            <a:ln w="14288">
              <a:solidFill>
                <a:srgbClr val="00BCD4">
                  <a:alpha val="70000"/>
                </a:srgbClr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731764" y="2305050"/>
              <a:ext cx="18704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ECEFF1"/>
                  </a:solidFill>
                  <a:latin typeface="Consolas"/>
                  <a:ea typeface="Consolas"/>
                  <a:cs typeface="Consolas"/>
                </a:rPr>
                <a:t>set_cycle_mask()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808893" y="2571274"/>
              <a:ext cx="1716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90A4AE"/>
                  </a:solidFill>
                  <a:latin typeface="Segoe UI"/>
                  <a:ea typeface="Microsoft YaHei"/>
                  <a:cs typeface="Segoe UI"/>
                </a:rPr>
                <a:t>比较三域时间戳，选择推进域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2667000" y="2771775"/>
              <a:ext cx="9525" cy="180975"/>
            </a:xfrm>
            <a:custGeom>
              <a:avLst/>
              <a:gdLst/>
              <a:ahLst/>
              <a:cxnLst/>
              <a:rect l="l" t="t" r="r" b="b"/>
              <a:pathLst>
                <a:path w="9525" h="180975">
                  <a:moveTo>
                    <a:pt x="0" y="0"/>
                  </a:moveTo>
                  <a:lnTo>
                    <a:pt x="0" y="180975"/>
                  </a:lnTo>
                </a:path>
              </a:pathLst>
            </a:custGeom>
            <a:noFill/>
            <a:ln w="11430">
              <a:solidFill>
                <a:srgbClr val="00BCD4">
                  <a:alpha val="50000"/>
                </a:srgbClr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2628900" y="2895600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76200" h="57150">
                  <a:moveTo>
                    <a:pt x="0" y="0"/>
                  </a:moveTo>
                  <a:lnTo>
                    <a:pt x="38100" y="571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BCD4">
                <a:alpha val="50000"/>
              </a:srgbClr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71500" y="3000375"/>
              <a:ext cx="2095500" cy="1714500"/>
            </a:xfrm>
            <a:prstGeom prst="roundRect">
              <a:avLst>
                <a:gd name="adj" fmla="val 2222"/>
              </a:avLst>
            </a:prstGeom>
            <a:solidFill>
              <a:srgbClr val="1B2838">
                <a:alpha val="60000"/>
              </a:srgbClr>
            </a:solidFill>
            <a:ln w="9525">
              <a:solidFill>
                <a:srgbClr val="2196F3">
                  <a:alpha val="50000"/>
                </a:srgbClr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71500" y="3000375"/>
              <a:ext cx="2095500" cy="323850"/>
            </a:xfrm>
            <a:prstGeom prst="roundRect">
              <a:avLst>
                <a:gd name="adj" fmla="val 11765"/>
              </a:avLst>
            </a:prstGeom>
            <a:solidFill>
              <a:srgbClr val="2196F3">
                <a:alpha val="12000"/>
              </a:srgb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33734" y="3089910"/>
              <a:ext cx="9710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196F3"/>
                  </a:solidFill>
                  <a:latin typeface="Consolas"/>
                  <a:ea typeface="Consolas"/>
                  <a:cs typeface="Consolas"/>
                </a:rPr>
                <a:t>CORE_MASK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6285" y="3421856"/>
              <a:ext cx="11321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CEFF1"/>
                  </a:solidFill>
                  <a:latin typeface="Segoe UI"/>
                  <a:ea typeface="Segoe UI"/>
                  <a:cs typeface="Segoe UI"/>
                </a:rPr>
                <a:t>handle_model()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6285" y="3669506"/>
              <a:ext cx="14426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CEFF1"/>
                  </a:solidFill>
                  <a:latin typeface="Segoe UI"/>
                  <a:ea typeface="Segoe UI"/>
                  <a:cs typeface="Segoe UI"/>
                </a:rPr>
                <a:t>pop_finished_tile()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6285" y="3917156"/>
              <a:ext cx="11775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CEFF1"/>
                  </a:solidFill>
                  <a:latin typeface="Segoe UI"/>
                  <a:ea typeface="Segoe UI"/>
                  <a:cs typeface="Segoe UI"/>
                </a:rPr>
                <a:t>issue(new_tile)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6285" y="4164806"/>
              <a:ext cx="10564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CEFF1"/>
                  </a:solidFill>
                  <a:latin typeface="Segoe UI"/>
                  <a:ea typeface="Segoe UI"/>
                  <a:cs typeface="Segoe UI"/>
                </a:rPr>
                <a:t>core-&gt;cycle()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6285" y="4412456"/>
              <a:ext cx="10564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4DD0E1"/>
                  </a:solidFill>
                  <a:latin typeface="Segoe UI"/>
                  <a:ea typeface="Segoe UI"/>
                  <a:cs typeface="Segoe UI"/>
                </a:rPr>
                <a:t>core_cycles++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857500" y="3000375"/>
              <a:ext cx="1714500" cy="1714500"/>
            </a:xfrm>
            <a:prstGeom prst="roundRect">
              <a:avLst>
                <a:gd name="adj" fmla="val 2222"/>
              </a:avLst>
            </a:prstGeom>
            <a:solidFill>
              <a:srgbClr val="1B2838">
                <a:alpha val="60000"/>
              </a:srgbClr>
            </a:solidFill>
            <a:ln w="9525">
              <a:solidFill>
                <a:srgbClr val="4DD0E1">
                  <a:alpha val="50000"/>
                </a:srgbClr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2857500" y="3000375"/>
              <a:ext cx="1714500" cy="323850"/>
            </a:xfrm>
            <a:prstGeom prst="roundRect">
              <a:avLst>
                <a:gd name="adj" fmla="val 11765"/>
              </a:avLst>
            </a:prstGeom>
            <a:solidFill>
              <a:srgbClr val="4DD0E1">
                <a:alpha val="12000"/>
              </a:srgb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29234" y="3089910"/>
              <a:ext cx="9710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4DD0E1"/>
                  </a:solidFill>
                  <a:latin typeface="Consolas"/>
                  <a:ea typeface="Consolas"/>
                  <a:cs typeface="Consolas"/>
                </a:rPr>
                <a:t>DRAM_MASK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042285" y="3498056"/>
              <a:ext cx="10867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CEFF1"/>
                  </a:solidFill>
                  <a:latin typeface="Segoe UI"/>
                  <a:ea typeface="Segoe UI"/>
                  <a:cs typeface="Segoe UI"/>
                </a:rPr>
                <a:t>dram-&gt;cycle()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043047" y="3799999"/>
              <a:ext cx="10998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0A4AE"/>
                  </a:solidFill>
                  <a:latin typeface="Segoe UI"/>
                  <a:ea typeface="Segoe UI"/>
                  <a:cs typeface="Segoe UI"/>
                </a:rPr>
                <a:t>Ramulator2 HBM2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043047" y="4038124"/>
              <a:ext cx="9811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0A4AE"/>
                  </a:solidFill>
                  <a:latin typeface="Segoe UI"/>
                  <a:ea typeface="Microsoft YaHei"/>
                  <a:cs typeface="Segoe UI"/>
                </a:rPr>
                <a:t>32 通道周期推进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042285" y="4355306"/>
              <a:ext cx="15031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4DD0E1"/>
                  </a:solidFill>
                  <a:latin typeface="Segoe UI"/>
                  <a:ea typeface="Segoe UI"/>
                  <a:cs typeface="Segoe UI"/>
                </a:rPr>
                <a:t>dram_time += period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762500" y="3000375"/>
              <a:ext cx="2857500" cy="1714500"/>
            </a:xfrm>
            <a:prstGeom prst="roundRect">
              <a:avLst>
                <a:gd name="adj" fmla="val 2222"/>
              </a:avLst>
            </a:prstGeom>
            <a:solidFill>
              <a:srgbClr val="1B2838">
                <a:alpha val="60000"/>
              </a:srgbClr>
            </a:solidFill>
            <a:ln w="9525">
              <a:solidFill>
                <a:srgbClr val="00BCD4">
                  <a:alpha val="50000"/>
                </a:srgbClr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4762500" y="3000375"/>
              <a:ext cx="2857500" cy="323850"/>
            </a:xfrm>
            <a:prstGeom prst="roundRect">
              <a:avLst>
                <a:gd name="adj" fmla="val 11765"/>
              </a:avLst>
            </a:prstGeom>
            <a:solidFill>
              <a:srgbClr val="00BCD4">
                <a:alpha val="12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746059" y="3089910"/>
              <a:ext cx="8903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0BCD4"/>
                  </a:solidFill>
                  <a:latin typeface="Consolas"/>
                  <a:ea typeface="Consolas"/>
                  <a:cs typeface="Consolas"/>
                </a:rPr>
                <a:t>ICNT_MASK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947285" y="3421856"/>
              <a:ext cx="25386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CEFF1"/>
                  </a:solidFill>
                  <a:latin typeface="Segoe UI"/>
                  <a:ea typeface="Segoe UI"/>
                  <a:cs typeface="Segoe UI"/>
                </a:rPr>
                <a:t>Core → ICNT: push memory request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947285" y="3669506"/>
              <a:ext cx="1932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CEFF1"/>
                  </a:solidFill>
                  <a:latin typeface="Segoe UI"/>
                  <a:ea typeface="Segoe UI"/>
                  <a:cs typeface="Segoe UI"/>
                </a:rPr>
                <a:t>ICNT → Core: pop response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947285" y="3917156"/>
              <a:ext cx="22603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CEFF1"/>
                  </a:solidFill>
                  <a:latin typeface="Segoe UI"/>
                  <a:ea typeface="Segoe UI"/>
                  <a:cs typeface="Segoe UI"/>
                </a:rPr>
                <a:t>ICNT → DRAM: forward request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947285" y="4164806"/>
              <a:ext cx="22294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CEFF1"/>
                  </a:solidFill>
                  <a:latin typeface="Segoe UI"/>
                  <a:ea typeface="Segoe UI"/>
                  <a:cs typeface="Segoe UI"/>
                </a:rPr>
                <a:t>DRAM → ICNT: return response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947285" y="4412456"/>
              <a:ext cx="10185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4DD0E1"/>
                  </a:solidFill>
                  <a:latin typeface="Segoe UI"/>
                  <a:ea typeface="Segoe UI"/>
                  <a:cs typeface="Segoe UI"/>
                </a:rPr>
                <a:t>icnt-&gt;cycle()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8184642" y="1330642"/>
            <a:ext cx="2140458" cy="2488597"/>
            <a:chOff x="8184642" y="1330642"/>
            <a:chExt cx="2140458" cy="2488597"/>
          </a:xfrm>
        </p:grpSpPr>
        <p:sp>
          <p:nvSpPr>
            <p:cNvPr id="46" name="TextBox 46"/>
            <p:cNvSpPr txBox="1"/>
            <p:nvPr/>
          </p:nvSpPr>
          <p:spPr>
            <a:xfrm>
              <a:off x="8184642" y="1330642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BCD4"/>
                  </a:solidFill>
                  <a:latin typeface="Consolas"/>
                  <a:ea typeface="Microsoft YaHei"/>
                  <a:cs typeface="Consolas"/>
                </a:rPr>
                <a:t>三域时间推进示意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186166" y="1648778"/>
              <a:ext cx="16760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07D8B"/>
                  </a:solidFill>
                  <a:latin typeface="Consolas"/>
                  <a:ea typeface="Consolas"/>
                  <a:cs typeface="Consolas"/>
                </a:rPr>
                <a:t>Core: 1GHz (1ns period)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186166" y="1867852"/>
              <a:ext cx="19115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07D8B"/>
                  </a:solidFill>
                  <a:latin typeface="Consolas"/>
                  <a:ea typeface="Consolas"/>
                  <a:cs typeface="Consolas"/>
                </a:rPr>
                <a:t>DRAM: 500MHz (2ns period)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186166" y="2086928"/>
              <a:ext cx="18464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07D8B"/>
                  </a:solidFill>
                  <a:latin typeface="Consolas"/>
                  <a:ea typeface="Consolas"/>
                  <a:cs typeface="Consolas"/>
                </a:rPr>
                <a:t>ICNT: 500MHz (2ns period)</a:t>
              </a:r>
            </a:p>
          </p:txBody>
        </p:sp>
        <p:grpSp>
          <p:nvGrpSpPr>
            <p:cNvPr id="65" name="Group 65"/>
            <p:cNvGrpSpPr/>
            <p:nvPr/>
          </p:nvGrpSpPr>
          <p:grpSpPr>
            <a:xfrm>
              <a:off x="8186738" y="2495550"/>
              <a:ext cx="2138362" cy="774382"/>
              <a:chOff x="8186738" y="2495550"/>
              <a:chExt cx="2138362" cy="774382"/>
            </a:xfrm>
          </p:grpSpPr>
          <p:sp>
            <p:nvSpPr>
              <p:cNvPr id="50" name="TextBox 50"/>
              <p:cNvSpPr txBox="1"/>
              <p:nvPr/>
            </p:nvSpPr>
            <p:spPr>
              <a:xfrm>
                <a:off x="8186738" y="2522220"/>
                <a:ext cx="27984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rgbClr val="2196F3"/>
                    </a:solidFill>
                    <a:latin typeface="Consolas"/>
                    <a:ea typeface="Consolas"/>
                    <a:cs typeface="Consolas"/>
                  </a:rPr>
                  <a:t>Core</a:t>
                </a:r>
              </a:p>
            </p:txBody>
          </p:sp>
          <p:sp>
            <p:nvSpPr>
              <p:cNvPr id="51" name="Rectangle 51"/>
              <p:cNvSpPr/>
              <p:nvPr/>
            </p:nvSpPr>
            <p:spPr>
              <a:xfrm>
                <a:off x="8763000" y="2495550"/>
                <a:ext cx="228600" cy="133350"/>
              </a:xfrm>
              <a:prstGeom prst="roundRect">
                <a:avLst>
                  <a:gd name="adj" fmla="val 7143"/>
                </a:avLst>
              </a:prstGeom>
              <a:solidFill>
                <a:srgbClr val="2196F3">
                  <a:alpha val="50000"/>
                </a:srgbClr>
              </a:solidFill>
              <a:ln w="14288">
                <a:solidFill>
                  <a:srgbClr val="2196F3">
                    <a:alpha val="70000"/>
                  </a:srgbClr>
                </a:solidFill>
              </a:ln>
            </p:spPr>
          </p:sp>
          <p:sp>
            <p:nvSpPr>
              <p:cNvPr id="52" name="Rectangle 52"/>
              <p:cNvSpPr/>
              <p:nvPr/>
            </p:nvSpPr>
            <p:spPr>
              <a:xfrm>
                <a:off x="9029700" y="2495550"/>
                <a:ext cx="228600" cy="133350"/>
              </a:xfrm>
              <a:prstGeom prst="roundRect">
                <a:avLst>
                  <a:gd name="adj" fmla="val 7143"/>
                </a:avLst>
              </a:prstGeom>
              <a:solidFill>
                <a:srgbClr val="2196F3">
                  <a:alpha val="50000"/>
                </a:srgbClr>
              </a:solidFill>
              <a:ln w="14288">
                <a:solidFill>
                  <a:srgbClr val="2196F3">
                    <a:alpha val="70000"/>
                  </a:srgbClr>
                </a:solidFill>
              </a:ln>
            </p:spPr>
          </p:sp>
          <p:sp>
            <p:nvSpPr>
              <p:cNvPr id="53" name="Rectangle 53"/>
              <p:cNvSpPr/>
              <p:nvPr/>
            </p:nvSpPr>
            <p:spPr>
              <a:xfrm>
                <a:off x="9296400" y="2495550"/>
                <a:ext cx="228600" cy="133350"/>
              </a:xfrm>
              <a:prstGeom prst="roundRect">
                <a:avLst>
                  <a:gd name="adj" fmla="val 7143"/>
                </a:avLst>
              </a:prstGeom>
              <a:solidFill>
                <a:srgbClr val="2196F3">
                  <a:alpha val="50000"/>
                </a:srgbClr>
              </a:solidFill>
              <a:ln w="14288">
                <a:solidFill>
                  <a:srgbClr val="2196F3">
                    <a:alpha val="70000"/>
                  </a:srgbClr>
                </a:solidFill>
              </a:ln>
            </p:spPr>
          </p:sp>
          <p:sp>
            <p:nvSpPr>
              <p:cNvPr id="54" name="Rectangle 54"/>
              <p:cNvSpPr/>
              <p:nvPr/>
            </p:nvSpPr>
            <p:spPr>
              <a:xfrm>
                <a:off x="9563100" y="2495550"/>
                <a:ext cx="228600" cy="133350"/>
              </a:xfrm>
              <a:prstGeom prst="roundRect">
                <a:avLst>
                  <a:gd name="adj" fmla="val 7143"/>
                </a:avLst>
              </a:prstGeom>
              <a:solidFill>
                <a:srgbClr val="2196F3">
                  <a:alpha val="50000"/>
                </a:srgbClr>
              </a:solidFill>
              <a:ln w="14288">
                <a:solidFill>
                  <a:srgbClr val="2196F3">
                    <a:alpha val="70000"/>
                  </a:srgbClr>
                </a:solidFill>
              </a:ln>
            </p:spPr>
          </p:sp>
          <p:sp>
            <p:nvSpPr>
              <p:cNvPr id="55" name="Rectangle 55"/>
              <p:cNvSpPr/>
              <p:nvPr/>
            </p:nvSpPr>
            <p:spPr>
              <a:xfrm>
                <a:off x="9829800" y="2495550"/>
                <a:ext cx="228600" cy="133350"/>
              </a:xfrm>
              <a:prstGeom prst="roundRect">
                <a:avLst>
                  <a:gd name="adj" fmla="val 7143"/>
                </a:avLst>
              </a:prstGeom>
              <a:solidFill>
                <a:srgbClr val="2196F3">
                  <a:alpha val="50000"/>
                </a:srgbClr>
              </a:solidFill>
              <a:ln w="14288">
                <a:solidFill>
                  <a:srgbClr val="2196F3">
                    <a:alpha val="70000"/>
                  </a:srgbClr>
                </a:solidFill>
              </a:ln>
            </p:spPr>
          </p:sp>
          <p:sp>
            <p:nvSpPr>
              <p:cNvPr id="56" name="Rectangle 56"/>
              <p:cNvSpPr/>
              <p:nvPr/>
            </p:nvSpPr>
            <p:spPr>
              <a:xfrm>
                <a:off x="10096500" y="2495550"/>
                <a:ext cx="228600" cy="133350"/>
              </a:xfrm>
              <a:prstGeom prst="roundRect">
                <a:avLst>
                  <a:gd name="adj" fmla="val 7143"/>
                </a:avLst>
              </a:prstGeom>
              <a:solidFill>
                <a:srgbClr val="2196F3">
                  <a:alpha val="50000"/>
                </a:srgbClr>
              </a:solidFill>
              <a:ln w="14288">
                <a:solidFill>
                  <a:srgbClr val="2196F3">
                    <a:alpha val="70000"/>
                  </a:srgbClr>
                </a:solidFill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8186738" y="2807970"/>
                <a:ext cx="31676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rgbClr val="4DD0E1"/>
                    </a:solidFill>
                    <a:latin typeface="Consolas"/>
                    <a:ea typeface="Consolas"/>
                    <a:cs typeface="Consolas"/>
                  </a:rPr>
                  <a:t>DRAM</a:t>
                </a:r>
              </a:p>
            </p:txBody>
          </p:sp>
          <p:sp>
            <p:nvSpPr>
              <p:cNvPr id="58" name="Rectangle 58"/>
              <p:cNvSpPr/>
              <p:nvPr/>
            </p:nvSpPr>
            <p:spPr>
              <a:xfrm>
                <a:off x="8763000" y="2781300"/>
                <a:ext cx="495300" cy="133350"/>
              </a:xfrm>
              <a:prstGeom prst="roundRect">
                <a:avLst>
                  <a:gd name="adj" fmla="val 7143"/>
                </a:avLst>
              </a:prstGeom>
              <a:solidFill>
                <a:srgbClr val="4DD0E1">
                  <a:alpha val="40000"/>
                </a:srgbClr>
              </a:solidFill>
              <a:ln w="14288">
                <a:solidFill>
                  <a:srgbClr val="4DD0E1">
                    <a:alpha val="60000"/>
                  </a:srgbClr>
                </a:solidFill>
              </a:ln>
            </p:spPr>
          </p:sp>
          <p:sp>
            <p:nvSpPr>
              <p:cNvPr id="59" name="Rectangle 59"/>
              <p:cNvSpPr/>
              <p:nvPr/>
            </p:nvSpPr>
            <p:spPr>
              <a:xfrm>
                <a:off x="9296400" y="2781300"/>
                <a:ext cx="495300" cy="133350"/>
              </a:xfrm>
              <a:prstGeom prst="roundRect">
                <a:avLst>
                  <a:gd name="adj" fmla="val 7143"/>
                </a:avLst>
              </a:prstGeom>
              <a:solidFill>
                <a:srgbClr val="4DD0E1">
                  <a:alpha val="40000"/>
                </a:srgbClr>
              </a:solidFill>
              <a:ln w="14288">
                <a:solidFill>
                  <a:srgbClr val="4DD0E1">
                    <a:alpha val="60000"/>
                  </a:srgbClr>
                </a:solidFill>
              </a:ln>
            </p:spPr>
          </p:sp>
          <p:sp>
            <p:nvSpPr>
              <p:cNvPr id="60" name="Rectangle 60"/>
              <p:cNvSpPr/>
              <p:nvPr/>
            </p:nvSpPr>
            <p:spPr>
              <a:xfrm>
                <a:off x="9829800" y="2781300"/>
                <a:ext cx="495300" cy="133350"/>
              </a:xfrm>
              <a:prstGeom prst="roundRect">
                <a:avLst>
                  <a:gd name="adj" fmla="val 7143"/>
                </a:avLst>
              </a:prstGeom>
              <a:solidFill>
                <a:srgbClr val="4DD0E1">
                  <a:alpha val="40000"/>
                </a:srgbClr>
              </a:solidFill>
              <a:ln w="14288">
                <a:solidFill>
                  <a:srgbClr val="4DD0E1">
                    <a:alpha val="60000"/>
                  </a:srgbClr>
                </a:solidFill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8186738" y="3093720"/>
                <a:ext cx="259156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rgbClr val="00BCD4"/>
                    </a:solidFill>
                    <a:latin typeface="Consolas"/>
                    <a:ea typeface="Consolas"/>
                    <a:cs typeface="Consolas"/>
                  </a:rPr>
                  <a:t>ICNT</a:t>
                </a:r>
              </a:p>
            </p:txBody>
          </p:sp>
          <p:sp>
            <p:nvSpPr>
              <p:cNvPr id="62" name="Rectangle 62"/>
              <p:cNvSpPr/>
              <p:nvPr/>
            </p:nvSpPr>
            <p:spPr>
              <a:xfrm>
                <a:off x="8763000" y="3067050"/>
                <a:ext cx="495300" cy="133350"/>
              </a:xfrm>
              <a:prstGeom prst="roundRect">
                <a:avLst>
                  <a:gd name="adj" fmla="val 7143"/>
                </a:avLst>
              </a:prstGeom>
              <a:solidFill>
                <a:srgbClr val="00BCD4">
                  <a:alpha val="40000"/>
                </a:srgbClr>
              </a:solidFill>
              <a:ln w="14288">
                <a:solidFill>
                  <a:srgbClr val="00BCD4">
                    <a:alpha val="60000"/>
                  </a:srgbClr>
                </a:solidFill>
              </a:ln>
            </p:spPr>
          </p:sp>
          <p:sp>
            <p:nvSpPr>
              <p:cNvPr id="63" name="Rectangle 63"/>
              <p:cNvSpPr/>
              <p:nvPr/>
            </p:nvSpPr>
            <p:spPr>
              <a:xfrm>
                <a:off x="9296400" y="3067050"/>
                <a:ext cx="495300" cy="133350"/>
              </a:xfrm>
              <a:prstGeom prst="roundRect">
                <a:avLst>
                  <a:gd name="adj" fmla="val 7143"/>
                </a:avLst>
              </a:prstGeom>
              <a:solidFill>
                <a:srgbClr val="00BCD4">
                  <a:alpha val="40000"/>
                </a:srgbClr>
              </a:solidFill>
              <a:ln w="14288">
                <a:solidFill>
                  <a:srgbClr val="00BCD4">
                    <a:alpha val="60000"/>
                  </a:srgbClr>
                </a:solidFill>
              </a:ln>
            </p:spPr>
          </p:sp>
          <p:sp>
            <p:nvSpPr>
              <p:cNvPr id="64" name="Rectangle 64"/>
              <p:cNvSpPr/>
              <p:nvPr/>
            </p:nvSpPr>
            <p:spPr>
              <a:xfrm>
                <a:off x="9829800" y="3067050"/>
                <a:ext cx="495300" cy="133350"/>
              </a:xfrm>
              <a:prstGeom prst="roundRect">
                <a:avLst>
                  <a:gd name="adj" fmla="val 7143"/>
                </a:avLst>
              </a:prstGeom>
              <a:solidFill>
                <a:srgbClr val="00BCD4">
                  <a:alpha val="40000"/>
                </a:srgbClr>
              </a:solidFill>
              <a:ln w="14288">
                <a:solidFill>
                  <a:srgbClr val="00BCD4">
                    <a:alpha val="60000"/>
                  </a:srgbClr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8186547" y="3418999"/>
              <a:ext cx="20837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0A4AE"/>
                  </a:solidFill>
                  <a:latin typeface="Segoe UI"/>
                  <a:ea typeface="Microsoft YaHei"/>
                  <a:cs typeface="Segoe UI"/>
                </a:rPr>
                <a:t>每个 step 选择时间戳最小的域推进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186547" y="3628549"/>
              <a:ext cx="15849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0A4AE"/>
                  </a:solidFill>
                  <a:latin typeface="Segoe UI"/>
                  <a:ea typeface="Microsoft YaHei"/>
                  <a:cs typeface="Segoe UI"/>
                </a:rPr>
                <a:t>频率不同自然形成交错执行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563118" y="4953000"/>
            <a:ext cx="7267817" cy="689134"/>
            <a:chOff x="563118" y="4953000"/>
            <a:chExt cx="7267817" cy="689134"/>
          </a:xfrm>
        </p:grpSpPr>
        <p:sp>
          <p:nvSpPr>
            <p:cNvPr id="69" name="Line 69"/>
            <p:cNvSpPr/>
            <p:nvPr/>
          </p:nvSpPr>
          <p:spPr>
            <a:xfrm>
              <a:off x="571500" y="49530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7620">
              <a:solidFill>
                <a:srgbClr val="263238">
                  <a:alpha val="50000"/>
                </a:srgbClr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63118" y="5108258"/>
              <a:ext cx="20491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CEFF1"/>
                  </a:solidFill>
                  <a:latin typeface="Segoe UI"/>
                  <a:ea typeface="Microsoft YaHei"/>
                  <a:cs typeface="Segoe UI"/>
                </a:rPr>
                <a:t>仿真结束 → 统计输出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3040380" y="5124450"/>
              <a:ext cx="11415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BCD4"/>
                  </a:solidFill>
                  <a:latin typeface="Consolas"/>
                  <a:ea typeface="Microsoft YaHei"/>
                  <a:cs typeface="Consolas"/>
                </a:rPr>
                <a:t>Core 利用率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4945380" y="5124450"/>
              <a:ext cx="9911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00BCD4"/>
                  </a:solidFill>
                  <a:latin typeface="Consolas"/>
                  <a:ea typeface="Consolas"/>
                  <a:cs typeface="Consolas"/>
                </a:rPr>
                <a:t>Trace CSV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469380" y="5124450"/>
              <a:ext cx="13615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00BCD4"/>
                  </a:solidFill>
                  <a:latin typeface="Consolas"/>
                  <a:ea typeface="Consolas"/>
                  <a:cs typeface="Consolas"/>
                </a:rPr>
                <a:t>Formula JSON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3042285" y="5422106"/>
              <a:ext cx="20164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0A4AE"/>
                  </a:solidFill>
                  <a:latin typeface="Segoe UI"/>
                  <a:ea typeface="Segoe UI"/>
                  <a:cs typeface="Segoe UI"/>
                </a:rPr>
                <a:t>Cube% / Vector% / Scalar%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4947285" y="5422106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0A4AE"/>
                  </a:solidFill>
                  <a:latin typeface="Segoe UI"/>
                  <a:ea typeface="Microsoft YaHei"/>
                  <a:cs typeface="Segoe UI"/>
                </a:rPr>
                <a:t>指令级时间线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471285" y="5422106"/>
              <a:ext cx="1331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0A4AE"/>
                  </a:solidFill>
                  <a:latin typeface="Segoe UI"/>
                  <a:ea typeface="Microsoft YaHei"/>
                  <a:cs typeface="Segoe UI"/>
                </a:rPr>
                <a:t>数学语义 DAG 验证</a:t>
              </a:r>
            </a:p>
          </p:txBody>
        </p:sp>
      </p:grpSp>
      <p:sp>
        <p:nvSpPr>
          <p:cNvPr id="78" name="TextBox 78"/>
          <p:cNvSpPr txBox="1"/>
          <p:nvPr/>
        </p:nvSpPr>
        <p:spPr>
          <a:xfrm>
            <a:off x="11368735" y="6506528"/>
            <a:ext cx="25709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07D8B">
                    <a:alphaMod val="50000"/>
                  </a:srgbClr>
                </a:solidFill>
                <a:latin typeface="Consolas"/>
                <a:ea typeface="Consolas"/>
                <a:cs typeface="Consolas"/>
              </a:rPr>
              <a:t>P05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152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20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20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20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20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1B2838">
                  <a:alpha val="20000"/>
                </a:srgbClr>
              </a:solidFill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553212" y="230505"/>
            <a:ext cx="7003447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ECEFF1"/>
                </a:solidFill>
                <a:latin typeface="Arial"/>
                <a:ea typeface="Microsoft YaHei"/>
                <a:cs typeface="Arial"/>
              </a:rPr>
              <a:t>Core 微架构：三条并行流水线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771525"/>
            <a:ext cx="762000" cy="19050"/>
          </a:xfrm>
          <a:prstGeom prst="rect">
            <a:avLst/>
          </a:prstGeom>
          <a:solidFill>
            <a:srgbClr val="00BCD4">
              <a:alpha val="70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63880" y="933450"/>
            <a:ext cx="691531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每个 Core 内部通过 LD/EX/ST 指令队列将 Tile 指令分发到三条物理流水线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571500" y="1428750"/>
            <a:ext cx="2571750" cy="571500"/>
            <a:chOff x="571500" y="1428750"/>
            <a:chExt cx="2571750" cy="571500"/>
          </a:xfrm>
        </p:grpSpPr>
        <p:sp>
          <p:nvSpPr>
            <p:cNvPr id="12" name="Rectangle 12"/>
            <p:cNvSpPr/>
            <p:nvPr/>
          </p:nvSpPr>
          <p:spPr>
            <a:xfrm>
              <a:off x="571500" y="1428750"/>
              <a:ext cx="2571750" cy="571500"/>
            </a:xfrm>
            <a:prstGeom prst="roundRect">
              <a:avLst>
                <a:gd name="adj" fmla="val 6667"/>
              </a:avLst>
            </a:prstGeom>
            <a:solidFill>
              <a:srgbClr val="1B2838">
                <a:alpha val="70000"/>
              </a:srgbClr>
            </a:solidFill>
            <a:ln w="9525">
              <a:solidFill>
                <a:srgbClr val="26323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26385" y="1521142"/>
              <a:ext cx="22619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ECEFF1"/>
                  </a:solidFill>
                  <a:latin typeface="Consolas"/>
                  <a:ea typeface="Microsoft YaHei"/>
                  <a:cs typeface="Consolas"/>
                </a:rPr>
                <a:t>Tile 双缓冲 (Buffer 0/1)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3415" y="1780699"/>
              <a:ext cx="20879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90A4AE"/>
                  </a:solidFill>
                  <a:latin typeface="Segoe UI"/>
                  <a:ea typeface="Segoe UI"/>
                  <a:cs typeface="Segoe UI"/>
                </a:rPr>
                <a:t>deque&lt;Instruction&gt; instructions</a:t>
              </a:r>
            </a:p>
          </p:txBody>
        </p:sp>
      </p:grpSp>
      <p:sp>
        <p:nvSpPr>
          <p:cNvPr id="16" name="Line 16"/>
          <p:cNvSpPr/>
          <p:nvPr/>
        </p:nvSpPr>
        <p:spPr>
          <a:xfrm>
            <a:off x="1857375" y="2000250"/>
            <a:ext cx="9525" cy="238125"/>
          </a:xfrm>
          <a:custGeom>
            <a:avLst/>
            <a:gdLst/>
            <a:ahLst/>
            <a:cxnLst/>
            <a:rect l="l" t="t" r="r" b="b"/>
            <a:pathLst>
              <a:path w="952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9525">
            <a:solidFill>
              <a:srgbClr val="2196F3">
                <a:alpha val="50000"/>
              </a:srgbClr>
            </a:solidFill>
          </a:ln>
        </p:spPr>
      </p:sp>
      <p:sp>
        <p:nvSpPr>
          <p:cNvPr id="17" name="Polygon 17"/>
          <p:cNvSpPr/>
          <p:nvPr/>
        </p:nvSpPr>
        <p:spPr>
          <a:xfrm>
            <a:off x="1819275" y="2181225"/>
            <a:ext cx="76200" cy="57150"/>
          </a:xfrm>
          <a:custGeom>
            <a:avLst/>
            <a:gdLst/>
            <a:ahLst/>
            <a:cxnLst/>
            <a:rect l="l" t="t" r="r" b="b"/>
            <a:pathLst>
              <a:path w="76200" h="57150">
                <a:moveTo>
                  <a:pt x="0" y="0"/>
                </a:moveTo>
                <a:lnTo>
                  <a:pt x="38100" y="57150"/>
                </a:lnTo>
                <a:lnTo>
                  <a:pt x="76200" y="0"/>
                </a:lnTo>
                <a:close/>
              </a:path>
            </a:pathLst>
          </a:custGeom>
          <a:solidFill>
            <a:srgbClr val="2196F3">
              <a:alpha val="50000"/>
            </a:srgbClr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571500" y="2286000"/>
            <a:ext cx="1714500" cy="476250"/>
          </a:xfrm>
          <a:prstGeom prst="roundRect">
            <a:avLst>
              <a:gd name="adj" fmla="val 6000"/>
            </a:avLst>
          </a:prstGeom>
          <a:solidFill>
            <a:srgbClr val="1B2838">
              <a:alpha val="70000"/>
            </a:srgbClr>
          </a:solidFill>
          <a:ln w="9525">
            <a:solidFill>
              <a:srgbClr val="4DD0E1">
                <a:alpha val="50000"/>
              </a:srgbClr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1044778" y="2366010"/>
            <a:ext cx="7679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4DD0E1"/>
                </a:solidFill>
                <a:latin typeface="Consolas"/>
                <a:ea typeface="Consolas"/>
                <a:cs typeface="Consolas"/>
              </a:rPr>
              <a:t>LD Queue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99909" y="2569845"/>
            <a:ext cx="125768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0A4AE"/>
                </a:solidFill>
                <a:latin typeface="Segoe UI"/>
                <a:ea typeface="Microsoft YaHei"/>
                <a:cs typeface="Segoe UI"/>
              </a:rPr>
              <a:t>MOVIN → DRAM 读请求</a:t>
            </a:r>
          </a:p>
        </p:txBody>
      </p:sp>
      <p:sp>
        <p:nvSpPr>
          <p:cNvPr id="21" name="Rectangle 21"/>
          <p:cNvSpPr/>
          <p:nvPr/>
        </p:nvSpPr>
        <p:spPr>
          <a:xfrm>
            <a:off x="2428875" y="2286000"/>
            <a:ext cx="1714500" cy="476250"/>
          </a:xfrm>
          <a:prstGeom prst="roundRect">
            <a:avLst>
              <a:gd name="adj" fmla="val 6000"/>
            </a:avLst>
          </a:prstGeom>
          <a:solidFill>
            <a:srgbClr val="1B2838">
              <a:alpha val="70000"/>
            </a:srgbClr>
          </a:solidFill>
          <a:ln w="9525">
            <a:solidFill>
              <a:srgbClr val="2196F3">
                <a:alpha val="50000"/>
              </a:srgbClr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2902153" y="2366010"/>
            <a:ext cx="7679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2196F3"/>
                </a:solidFill>
                <a:latin typeface="Consolas"/>
                <a:ea typeface="Consolas"/>
                <a:cs typeface="Consolas"/>
              </a:rPr>
              <a:t>EX Queue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585383" y="2569845"/>
            <a:ext cx="140148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90A4AE"/>
                </a:solidFill>
                <a:latin typeface="Segoe UI"/>
                <a:ea typeface="Segoe UI"/>
                <a:cs typeface="Segoe UI"/>
              </a:rPr>
              <a:t>GEMM / Vector / Scalar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286250" y="2286000"/>
            <a:ext cx="1714500" cy="476250"/>
          </a:xfrm>
          <a:prstGeom prst="roundRect">
            <a:avLst>
              <a:gd name="adj" fmla="val 6000"/>
            </a:avLst>
          </a:prstGeom>
          <a:solidFill>
            <a:srgbClr val="1B2838">
              <a:alpha val="70000"/>
            </a:srgbClr>
          </a:solidFill>
          <a:ln w="9525">
            <a:solidFill>
              <a:srgbClr val="00BCD4">
                <a:alpha val="50000"/>
              </a:srgbClr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4759528" y="2366010"/>
            <a:ext cx="7679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BCD4"/>
                </a:solidFill>
                <a:latin typeface="Consolas"/>
                <a:ea typeface="Consolas"/>
                <a:cs typeface="Consolas"/>
              </a:rPr>
              <a:t>ST Queue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450652" y="2569845"/>
            <a:ext cx="138569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0A4AE"/>
                </a:solidFill>
                <a:latin typeface="Segoe UI"/>
                <a:ea typeface="Microsoft YaHei"/>
                <a:cs typeface="Segoe UI"/>
              </a:rPr>
              <a:t>MOVOUT → DRAM 写请求</a:t>
            </a:r>
          </a:p>
        </p:txBody>
      </p:sp>
      <p:sp>
        <p:nvSpPr>
          <p:cNvPr id="27" name="Line 27"/>
          <p:cNvSpPr/>
          <p:nvPr/>
        </p:nvSpPr>
        <p:spPr>
          <a:xfrm>
            <a:off x="1428750" y="276225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7620">
            <a:solidFill>
              <a:srgbClr val="4DD0E1">
                <a:alpha val="30000"/>
              </a:srgbClr>
            </a:solidFill>
            <a:custDash>
              <a:ds d="500000" sp="375000"/>
            </a:custDash>
          </a:ln>
        </p:spPr>
      </p:sp>
      <p:sp>
        <p:nvSpPr>
          <p:cNvPr id="28" name="Line 28"/>
          <p:cNvSpPr/>
          <p:nvPr/>
        </p:nvSpPr>
        <p:spPr>
          <a:xfrm>
            <a:off x="3286125" y="276225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9525">
            <a:solidFill>
              <a:srgbClr val="2196F3">
                <a:alpha val="60000"/>
              </a:srgbClr>
            </a:solidFill>
          </a:ln>
        </p:spPr>
      </p:sp>
      <p:sp>
        <p:nvSpPr>
          <p:cNvPr id="29" name="Polygon 29"/>
          <p:cNvSpPr/>
          <p:nvPr/>
        </p:nvSpPr>
        <p:spPr>
          <a:xfrm>
            <a:off x="3248025" y="2895600"/>
            <a:ext cx="76200" cy="57150"/>
          </a:xfrm>
          <a:custGeom>
            <a:avLst/>
            <a:gdLst/>
            <a:ahLst/>
            <a:cxnLst/>
            <a:rect l="l" t="t" r="r" b="b"/>
            <a:pathLst>
              <a:path w="76200" h="57150">
                <a:moveTo>
                  <a:pt x="0" y="0"/>
                </a:moveTo>
                <a:lnTo>
                  <a:pt x="38100" y="57150"/>
                </a:lnTo>
                <a:lnTo>
                  <a:pt x="76200" y="0"/>
                </a:lnTo>
                <a:close/>
              </a:path>
            </a:pathLst>
          </a:custGeom>
          <a:solidFill>
            <a:srgbClr val="2196F3">
              <a:alpha val="50000"/>
            </a:srgbClr>
          </a:solidFill>
          <a:ln>
            <a:noFill/>
          </a:ln>
        </p:spPr>
      </p:sp>
      <p:sp>
        <p:nvSpPr>
          <p:cNvPr id="30" name="Line 30"/>
          <p:cNvSpPr/>
          <p:nvPr/>
        </p:nvSpPr>
        <p:spPr>
          <a:xfrm>
            <a:off x="5143500" y="276225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7620">
            <a:solidFill>
              <a:srgbClr val="00BCD4">
                <a:alpha val="30000"/>
              </a:srgbClr>
            </a:solidFill>
            <a:custDash>
              <a:ds d="500000" sp="375000"/>
            </a:custDash>
          </a:ln>
        </p:spPr>
      </p:sp>
      <p:sp>
        <p:nvSpPr>
          <p:cNvPr id="31" name="Rectangle 31"/>
          <p:cNvSpPr/>
          <p:nvPr/>
        </p:nvSpPr>
        <p:spPr>
          <a:xfrm>
            <a:off x="2428875" y="3000375"/>
            <a:ext cx="3429000" cy="381000"/>
          </a:xfrm>
          <a:prstGeom prst="roundRect">
            <a:avLst>
              <a:gd name="adj" fmla="val 7500"/>
            </a:avLst>
          </a:prstGeom>
          <a:solidFill>
            <a:srgbClr val="1B2838">
              <a:alpha val="50000"/>
            </a:srgbClr>
          </a:solidFill>
          <a:ln w="7620">
            <a:solidFill>
              <a:srgbClr val="2196F3">
                <a:alpha val="40000"/>
              </a:srgbClr>
            </a:solidFill>
            <a:custDash>
              <a:ds d="500000" sp="375000"/>
            </a:custDash>
          </a:ln>
        </p:spPr>
      </p:sp>
      <p:sp>
        <p:nvSpPr>
          <p:cNvPr id="32" name="TextBox 32"/>
          <p:cNvSpPr txBox="1"/>
          <p:nvPr/>
        </p:nvSpPr>
        <p:spPr>
          <a:xfrm>
            <a:off x="3448955" y="3125152"/>
            <a:ext cx="138884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07D8B"/>
                </a:solidFill>
                <a:latin typeface="Segoe UI"/>
                <a:ea typeface="Microsoft YaHei"/>
                <a:cs typeface="Segoe UI"/>
              </a:rPr>
              <a:t>按 opcode 类型分发 →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71500" y="3619500"/>
            <a:ext cx="1714500" cy="1238250"/>
          </a:xfrm>
          <a:prstGeom prst="roundRect">
            <a:avLst>
              <a:gd name="adj" fmla="val 3077"/>
            </a:avLst>
          </a:prstGeom>
          <a:solidFill>
            <a:srgbClr val="1B2838">
              <a:alpha val="70000"/>
            </a:srgbClr>
          </a:solidFill>
          <a:ln w="11430">
            <a:solidFill>
              <a:srgbClr val="2196F3">
                <a:alpha val="60000"/>
              </a:srgbClr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571500" y="3619500"/>
            <a:ext cx="1714500" cy="323850"/>
          </a:xfrm>
          <a:prstGeom prst="roundRect">
            <a:avLst>
              <a:gd name="adj" fmla="val 11765"/>
            </a:avLst>
          </a:prstGeom>
          <a:solidFill>
            <a:srgbClr val="2196F3">
              <a:alpha val="15000"/>
            </a:srgbClr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896148" y="3709035"/>
            <a:ext cx="10652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2196F3"/>
                </a:solidFill>
                <a:latin typeface="Consolas"/>
                <a:ea typeface="Consolas"/>
                <a:cs typeface="Consolas"/>
              </a:rPr>
              <a:t>Cube Pipeline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56666" y="4030028"/>
            <a:ext cx="133453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CEFF1"/>
                </a:solidFill>
                <a:latin typeface="Segoe UI"/>
                <a:ea typeface="Microsoft YaHei"/>
                <a:cs typeface="Segoe UI"/>
              </a:rPr>
              <a:t>脉动阵列 (Systolic)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56666" y="4249102"/>
            <a:ext cx="11308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Segoe UI"/>
                <a:ea typeface="Microsoft YaHei"/>
                <a:cs typeface="Segoe UI"/>
              </a:rPr>
              <a:t>多发射 (深度=H)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56666" y="4468178"/>
            <a:ext cx="109907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Segoe UI"/>
                <a:ea typeface="Microsoft YaHei"/>
                <a:cs typeface="Segoe UI"/>
              </a:rPr>
              <a:t>16×16×16 基本块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57238" y="4684395"/>
            <a:ext cx="100805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4DD0E1"/>
                </a:solidFill>
                <a:latin typeface="Consolas"/>
                <a:ea typeface="Consolas"/>
                <a:cs typeface="Consolas"/>
              </a:rPr>
              <a:t>GEMM / PRELOAD</a:t>
            </a:r>
          </a:p>
        </p:txBody>
      </p:sp>
      <p:sp>
        <p:nvSpPr>
          <p:cNvPr id="40" name="Rectangle 40"/>
          <p:cNvSpPr/>
          <p:nvPr/>
        </p:nvSpPr>
        <p:spPr>
          <a:xfrm>
            <a:off x="2428875" y="3619500"/>
            <a:ext cx="1714500" cy="1238250"/>
          </a:xfrm>
          <a:prstGeom prst="roundRect">
            <a:avLst>
              <a:gd name="adj" fmla="val 3077"/>
            </a:avLst>
          </a:prstGeom>
          <a:solidFill>
            <a:srgbClr val="1B2838">
              <a:alpha val="70000"/>
            </a:srgbClr>
          </a:solidFill>
          <a:ln w="11430">
            <a:solidFill>
              <a:srgbClr val="00BCD4">
                <a:alpha val="60000"/>
              </a:srgbClr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2428875" y="3619500"/>
            <a:ext cx="1714500" cy="323850"/>
          </a:xfrm>
          <a:prstGeom prst="roundRect">
            <a:avLst>
              <a:gd name="adj" fmla="val 11765"/>
            </a:avLst>
          </a:prstGeom>
          <a:solidFill>
            <a:srgbClr val="00BCD4">
              <a:alpha val="15000"/>
            </a:srgbClr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2660180" y="3709035"/>
            <a:ext cx="1251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BCD4"/>
                </a:solidFill>
                <a:latin typeface="Consolas"/>
                <a:ea typeface="Consolas"/>
                <a:cs typeface="Consolas"/>
              </a:rPr>
              <a:t>Vector Pipeline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614041" y="4030028"/>
            <a:ext cx="113427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ECEFF1"/>
                </a:solidFill>
                <a:latin typeface="Segoe UI"/>
                <a:ea typeface="Segoe UI"/>
                <a:cs typeface="Segoe UI"/>
              </a:rPr>
              <a:t>SIMD (2048-bit)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2614041" y="4249102"/>
            <a:ext cx="91531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Segoe UI"/>
                <a:ea typeface="Microsoft YaHei"/>
                <a:cs typeface="Segoe UI"/>
              </a:rPr>
              <a:t>单发射 (阻塞)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614041" y="4468178"/>
            <a:ext cx="9515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Segoe UI"/>
                <a:ea typeface="Microsoft YaHei"/>
                <a:cs typeface="Segoe UI"/>
              </a:rPr>
              <a:t>128 FP16 / 拍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614612" y="4684395"/>
            <a:ext cx="127048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4DD0E1"/>
                </a:solidFill>
                <a:latin typeface="Consolas"/>
                <a:ea typeface="Consolas"/>
                <a:cs typeface="Consolas"/>
              </a:rPr>
              <a:t>ADD/MUL/DIV/EXP...</a:t>
            </a:r>
          </a:p>
        </p:txBody>
      </p:sp>
      <p:sp>
        <p:nvSpPr>
          <p:cNvPr id="47" name="Rectangle 47"/>
          <p:cNvSpPr/>
          <p:nvPr/>
        </p:nvSpPr>
        <p:spPr>
          <a:xfrm>
            <a:off x="4286250" y="3619500"/>
            <a:ext cx="1714500" cy="1238250"/>
          </a:xfrm>
          <a:prstGeom prst="roundRect">
            <a:avLst>
              <a:gd name="adj" fmla="val 3077"/>
            </a:avLst>
          </a:prstGeom>
          <a:solidFill>
            <a:srgbClr val="1B2838">
              <a:alpha val="70000"/>
            </a:srgbClr>
          </a:solidFill>
          <a:ln w="11430">
            <a:solidFill>
              <a:srgbClr val="4DD0E1">
                <a:alpha val="60000"/>
              </a:srgbClr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4286250" y="3619500"/>
            <a:ext cx="1714500" cy="323850"/>
          </a:xfrm>
          <a:prstGeom prst="roundRect">
            <a:avLst>
              <a:gd name="adj" fmla="val 11765"/>
            </a:avLst>
          </a:prstGeom>
          <a:solidFill>
            <a:srgbClr val="4DD0E1">
              <a:alpha val="15000"/>
            </a:srgbClr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4538929" y="3709035"/>
            <a:ext cx="12091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4DD0E1"/>
                </a:solidFill>
                <a:latin typeface="Consolas"/>
                <a:ea typeface="Consolas"/>
                <a:cs typeface="Consolas"/>
              </a:rPr>
              <a:t>Scalar Pipeline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471416" y="4030028"/>
            <a:ext cx="74996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CEFF1"/>
                </a:solidFill>
                <a:latin typeface="Segoe UI"/>
                <a:ea typeface="Microsoft YaHei"/>
                <a:cs typeface="Segoe UI"/>
              </a:rPr>
              <a:t>逐元素 ALU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471416" y="42491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Segoe UI"/>
                <a:ea typeface="Microsoft YaHei"/>
                <a:cs typeface="Segoe UI"/>
              </a:rPr>
              <a:t>严格单发射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471416" y="4468178"/>
            <a:ext cx="117681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90A4AE"/>
                </a:solidFill>
                <a:latin typeface="Segoe UI"/>
                <a:ea typeface="Segoe UI"/>
                <a:cs typeface="Segoe UI"/>
              </a:rPr>
              <a:t>compute_size = 1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4471988" y="4684395"/>
            <a:ext cx="143690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4DD0E1"/>
                </a:solidFill>
                <a:latin typeface="Consolas"/>
                <a:ea typeface="Consolas"/>
                <a:cs typeface="Consolas"/>
              </a:rPr>
              <a:t>ADD/SUB/MUL/DIV/SQRT</a:t>
            </a:r>
          </a:p>
        </p:txBody>
      </p:sp>
      <p:grpSp>
        <p:nvGrpSpPr>
          <p:cNvPr id="70" name="Group 70"/>
          <p:cNvGrpSpPr/>
          <p:nvPr/>
        </p:nvGrpSpPr>
        <p:grpSpPr>
          <a:xfrm>
            <a:off x="6659880" y="1362075"/>
            <a:ext cx="4823669" cy="3511486"/>
            <a:chOff x="6659880" y="1362075"/>
            <a:chExt cx="4823669" cy="3511486"/>
          </a:xfrm>
        </p:grpSpPr>
        <p:sp>
          <p:nvSpPr>
            <p:cNvPr id="54" name="TextBox 54"/>
            <p:cNvSpPr txBox="1"/>
            <p:nvPr/>
          </p:nvSpPr>
          <p:spPr>
            <a:xfrm>
              <a:off x="6659880" y="1362075"/>
              <a:ext cx="14714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BCD4"/>
                  </a:solidFill>
                  <a:latin typeface="Consolas"/>
                  <a:ea typeface="Microsoft YaHei"/>
                  <a:cs typeface="Consolas"/>
                </a:rPr>
                <a:t>SPAD 地址空间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667500" y="1714500"/>
              <a:ext cx="4762500" cy="762000"/>
            </a:xfrm>
            <a:prstGeom prst="roundRect">
              <a:avLst>
                <a:gd name="adj" fmla="val 5000"/>
              </a:avLst>
            </a:prstGeom>
            <a:solidFill>
              <a:srgbClr val="1B2838">
                <a:alpha val="70000"/>
              </a:srgbClr>
            </a:solidFill>
            <a:ln w="9525">
              <a:solidFill>
                <a:srgbClr val="2196F3">
                  <a:alpha val="50000"/>
                </a:srgbClr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946392" y="1854518"/>
              <a:ext cx="22279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196F3"/>
                  </a:solidFill>
                  <a:latin typeface="Consolas"/>
                  <a:ea typeface="Consolas"/>
                  <a:cs typeface="Consolas"/>
                </a:rPr>
                <a:t>SPAD_BASE = 0x10000000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947535" y="2145506"/>
              <a:ext cx="28837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CEFF1"/>
                  </a:solidFill>
                  <a:latin typeface="Segoe UI"/>
                  <a:ea typeface="Microsoft YaHei"/>
                  <a:cs typeface="Segoe UI"/>
                </a:rPr>
                <a:t>通用 SPAD 256KB/核 存储输入/中间数据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667500" y="2619375"/>
              <a:ext cx="4762500" cy="762000"/>
            </a:xfrm>
            <a:prstGeom prst="roundRect">
              <a:avLst>
                <a:gd name="adj" fmla="val 5000"/>
              </a:avLst>
            </a:prstGeom>
            <a:solidFill>
              <a:srgbClr val="1B2838">
                <a:alpha val="70000"/>
              </a:srgbClr>
            </a:solidFill>
            <a:ln w="9525">
              <a:solidFill>
                <a:srgbClr val="4DD0E1">
                  <a:alpha val="50000"/>
                </a:srgbClr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946392" y="2759392"/>
              <a:ext cx="29021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4DD0E1"/>
                  </a:solidFill>
                  <a:latin typeface="Consolas"/>
                  <a:ea typeface="Consolas"/>
                  <a:cs typeface="Consolas"/>
                </a:rPr>
                <a:t>ACCUM_SPAD_BASE = 0x20000000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947535" y="3050381"/>
              <a:ext cx="27797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CEFF1"/>
                  </a:solidFill>
                  <a:latin typeface="Segoe UI"/>
                  <a:ea typeface="Microsoft YaHei"/>
                  <a:cs typeface="Segoe UI"/>
                </a:rPr>
                <a:t>累加器 SPAD 256KB/核 GEMM 输出专用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659880" y="36480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BCD4"/>
                  </a:solidFill>
                  <a:latin typeface="Consolas"/>
                  <a:ea typeface="Microsoft YaHei"/>
                  <a:cs typeface="Consolas"/>
                </a:rPr>
                <a:t>双缓冲机制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667500" y="4000500"/>
              <a:ext cx="2286000" cy="857250"/>
            </a:xfrm>
            <a:prstGeom prst="roundRect">
              <a:avLst>
                <a:gd name="adj" fmla="val 4444"/>
              </a:avLst>
            </a:prstGeom>
            <a:solidFill>
              <a:srgbClr val="1B2838">
                <a:alpha val="60000"/>
              </a:srgbClr>
            </a:solidFill>
            <a:ln w="9525">
              <a:solidFill>
                <a:srgbClr val="26323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422980" y="4159568"/>
              <a:ext cx="7750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ECEFF1"/>
                  </a:solidFill>
                  <a:latin typeface="Segoe UI"/>
                  <a:ea typeface="Segoe UI"/>
                  <a:cs typeface="Segoe UI"/>
                </a:rPr>
                <a:t>Buffer 0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422980" y="4407218"/>
              <a:ext cx="7750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ECEFF1"/>
                  </a:solidFill>
                  <a:latin typeface="Segoe UI"/>
                  <a:ea typeface="Segoe UI"/>
                  <a:cs typeface="Segoe UI"/>
                </a:rPr>
                <a:t>Buffer 1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158485" y="4668202"/>
              <a:ext cx="1304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0A4AE"/>
                  </a:solidFill>
                  <a:latin typeface="Segoe UI"/>
                  <a:ea typeface="Microsoft YaHei"/>
                  <a:cs typeface="Segoe UI"/>
                </a:rPr>
                <a:t>交替使用 · 乒乓操作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9144000" y="4000500"/>
              <a:ext cx="2286000" cy="857250"/>
            </a:xfrm>
            <a:prstGeom prst="roundRect">
              <a:avLst>
                <a:gd name="adj" fmla="val 4444"/>
              </a:avLst>
            </a:prstGeom>
            <a:solidFill>
              <a:srgbClr val="1B2838">
                <a:alpha val="60000"/>
              </a:srgbClr>
            </a:solidFill>
            <a:ln w="9525">
              <a:solidFill>
                <a:srgbClr val="263238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314536" y="4159568"/>
              <a:ext cx="1944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ECEFF1"/>
                  </a:solidFill>
                  <a:latin typeface="Segoe UI"/>
                  <a:ea typeface="Segoe UI"/>
                  <a:cs typeface="Segoe UI"/>
                </a:rPr>
                <a:t>MOVIN: base_addr = 0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090450" y="4407218"/>
              <a:ext cx="23930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ECEFF1"/>
                  </a:solidFill>
                  <a:latin typeface="Segoe UI"/>
                  <a:ea typeface="Segoe UI"/>
                  <a:cs typeface="Segoe UI"/>
                </a:rPr>
                <a:t>MOVOUT: src_from_accum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730397" y="4668202"/>
              <a:ext cx="11132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90A4AE"/>
                  </a:solidFill>
                  <a:latin typeface="Segoe UI"/>
                  <a:ea typeface="Segoe UI"/>
                  <a:cs typeface="Segoe UI"/>
                </a:rPr>
                <a:t>last_inst = true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564642" y="5140642"/>
            <a:ext cx="6660490" cy="1012889"/>
            <a:chOff x="564642" y="5140642"/>
            <a:chExt cx="6660490" cy="1012889"/>
          </a:xfrm>
        </p:grpSpPr>
        <p:sp>
          <p:nvSpPr>
            <p:cNvPr id="71" name="TextBox 71"/>
            <p:cNvSpPr txBox="1"/>
            <p:nvPr/>
          </p:nvSpPr>
          <p:spPr>
            <a:xfrm>
              <a:off x="564642" y="5140642"/>
              <a:ext cx="31400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07D8B"/>
                  </a:solidFill>
                  <a:latin typeface="Consolas"/>
                  <a:ea typeface="Microsoft YaHei"/>
                  <a:cs typeface="Consolas"/>
                </a:rPr>
                <a:t>SystolicWS::cycle() 每周期执行：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65404" y="5442585"/>
              <a:ext cx="66597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0A4AE"/>
                  </a:solidFill>
                  <a:latin typeface="Consolas"/>
                  <a:ea typeface="Consolas"/>
                  <a:cs typeface="Consolas"/>
                </a:rPr>
                <a:t>1. finish_compute_pipeline() 2. finish_vector_pipeline() 3. finish_scalar_pipeline()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565404" y="5680710"/>
              <a:ext cx="5553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0A4AE"/>
                  </a:solidFill>
                  <a:latin typeface="Consolas"/>
                  <a:ea typeface="Microsoft YaHei"/>
                  <a:cs typeface="Consolas"/>
                </a:rPr>
                <a:t>4. handle_ld_inst_queue() 5. EX 指令发射 (按 opcode 分发到对应流水线)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565404" y="5918835"/>
              <a:ext cx="42446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0A4AE"/>
                  </a:solidFill>
                  <a:latin typeface="Consolas"/>
                  <a:ea typeface="Microsoft YaHei"/>
                  <a:cs typeface="Consolas"/>
                </a:rPr>
                <a:t>6. handle_st_inst_queue() 7. 统计更新 + core_cycle++</a:t>
              </a:r>
            </a:p>
          </p:txBody>
        </p:sp>
      </p:grpSp>
      <p:sp>
        <p:nvSpPr>
          <p:cNvPr id="76" name="TextBox 76"/>
          <p:cNvSpPr txBox="1"/>
          <p:nvPr/>
        </p:nvSpPr>
        <p:spPr>
          <a:xfrm>
            <a:off x="11368735" y="6506528"/>
            <a:ext cx="25709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07D8B">
                    <a:alphaMod val="50000"/>
                  </a:srgbClr>
                </a:solidFill>
                <a:latin typeface="Consolas"/>
                <a:ea typeface="Consolas"/>
                <a:cs typeface="Consolas"/>
              </a:rPr>
              <a:t>P06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0" y="1524000"/>
            <a:ext cx="12192000" cy="4581525"/>
            <a:chOff x="0" y="1524000"/>
            <a:chExt cx="12192000" cy="4581525"/>
          </a:xfrm>
        </p:grpSpPr>
        <p:sp>
          <p:nvSpPr>
            <p:cNvPr id="3" name="Line 3"/>
            <p:cNvSpPr/>
            <p:nvPr/>
          </p:nvSpPr>
          <p:spPr>
            <a:xfrm>
              <a:off x="0" y="152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20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20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20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20000"/>
                </a:srgbClr>
              </a:solidFill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553212" y="182880"/>
            <a:ext cx="8481131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ECEFF1"/>
                </a:solidFill>
                <a:latin typeface="Arial"/>
                <a:ea typeface="Microsoft YaHei"/>
                <a:cs typeface="Arial"/>
              </a:rPr>
              <a:t>基础算子：GEMM · Vector · Scalar</a:t>
            </a:r>
          </a:p>
        </p:txBody>
      </p:sp>
      <p:sp>
        <p:nvSpPr>
          <p:cNvPr id="9" name="Rectangle 9"/>
          <p:cNvSpPr/>
          <p:nvPr/>
        </p:nvSpPr>
        <p:spPr>
          <a:xfrm>
            <a:off x="571500" y="723900"/>
            <a:ext cx="762000" cy="19050"/>
          </a:xfrm>
          <a:prstGeom prst="rect">
            <a:avLst/>
          </a:prstGeom>
          <a:solidFill>
            <a:srgbClr val="00BCD4">
              <a:alpha val="70000"/>
            </a:srgbClr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563880" y="866775"/>
            <a:ext cx="64333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三类基础计算算子分别映射到 Cube / Vector / Scalar 三条物理流水线</a:t>
            </a:r>
          </a:p>
        </p:txBody>
      </p:sp>
      <p:grpSp>
        <p:nvGrpSpPr>
          <p:cNvPr id="61" name="Group 61"/>
          <p:cNvGrpSpPr/>
          <p:nvPr/>
        </p:nvGrpSpPr>
        <p:grpSpPr>
          <a:xfrm>
            <a:off x="381000" y="1285875"/>
            <a:ext cx="11997941" cy="4572000"/>
            <a:chOff x="381000" y="1285875"/>
            <a:chExt cx="11997941" cy="4572000"/>
          </a:xfrm>
        </p:grpSpPr>
        <p:sp>
          <p:nvSpPr>
            <p:cNvPr id="11" name="Rectangle 11"/>
            <p:cNvSpPr/>
            <p:nvPr/>
          </p:nvSpPr>
          <p:spPr>
            <a:xfrm>
              <a:off x="381000" y="1285875"/>
              <a:ext cx="11430000" cy="419100"/>
            </a:xfrm>
            <a:prstGeom prst="roundRect">
              <a:avLst>
                <a:gd name="adj" fmla="val 6818"/>
              </a:avLst>
            </a:prstGeom>
            <a:solidFill>
              <a:srgbClr val="1B2838">
                <a:alpha val="80000"/>
              </a:srgbClr>
            </a:solidFill>
            <a:ln w="9525">
              <a:solidFill>
                <a:srgbClr val="263238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5642" y="141636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CEFF1"/>
                  </a:solidFill>
                  <a:latin typeface="Consolas"/>
                  <a:ea typeface="Microsoft YaHei"/>
                  <a:cs typeface="Consolas"/>
                </a:rPr>
                <a:t>特性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41142" y="1416368"/>
              <a:ext cx="12386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196F3"/>
                  </a:solidFill>
                  <a:latin typeface="Consolas"/>
                  <a:ea typeface="Consolas"/>
                  <a:cs typeface="Consolas"/>
                </a:rPr>
                <a:t>GEMM (Cube)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70142" y="1416368"/>
              <a:ext cx="6493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0BCD4"/>
                  </a:solidFill>
                  <a:latin typeface="Consolas"/>
                  <a:ea typeface="Consolas"/>
                  <a:cs typeface="Consolas"/>
                </a:rPr>
                <a:t>Vector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518142" y="1416368"/>
              <a:ext cx="6012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4DD0E1"/>
                  </a:solidFill>
                  <a:latin typeface="Consolas"/>
                  <a:ea typeface="Consolas"/>
                  <a:cs typeface="Consolas"/>
                </a:rPr>
                <a:t>Scalar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2667000" y="1285875"/>
              <a:ext cx="9525" cy="4572000"/>
            </a:xfrm>
            <a:custGeom>
              <a:avLst/>
              <a:gdLst/>
              <a:ahLst/>
              <a:cxnLst/>
              <a:rect l="l" t="t" r="r" b="b"/>
              <a:pathLst>
                <a:path w="9525" h="4572000">
                  <a:moveTo>
                    <a:pt x="0" y="0"/>
                  </a:moveTo>
                  <a:lnTo>
                    <a:pt x="0" y="4572000"/>
                  </a:lnTo>
                </a:path>
              </a:pathLst>
            </a:custGeom>
            <a:noFill/>
            <a:ln w="7620">
              <a:solidFill>
                <a:srgbClr val="263238">
                  <a:alpha val="30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5715000" y="1285875"/>
              <a:ext cx="9525" cy="4572000"/>
            </a:xfrm>
            <a:custGeom>
              <a:avLst/>
              <a:gdLst/>
              <a:ahLst/>
              <a:cxnLst/>
              <a:rect l="l" t="t" r="r" b="b"/>
              <a:pathLst>
                <a:path w="9525" h="4572000">
                  <a:moveTo>
                    <a:pt x="0" y="0"/>
                  </a:moveTo>
                  <a:lnTo>
                    <a:pt x="0" y="4572000"/>
                  </a:lnTo>
                </a:path>
              </a:pathLst>
            </a:custGeom>
            <a:noFill/>
            <a:ln w="7620">
              <a:solidFill>
                <a:srgbClr val="263238">
                  <a:alpha val="30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8763000" y="1285875"/>
              <a:ext cx="9525" cy="4572000"/>
            </a:xfrm>
            <a:custGeom>
              <a:avLst/>
              <a:gdLst/>
              <a:ahLst/>
              <a:cxnLst/>
              <a:rect l="l" t="t" r="r" b="b"/>
              <a:pathLst>
                <a:path w="9525" h="4572000">
                  <a:moveTo>
                    <a:pt x="0" y="0"/>
                  </a:moveTo>
                  <a:lnTo>
                    <a:pt x="0" y="4572000"/>
                  </a:lnTo>
                </a:path>
              </a:pathLst>
            </a:custGeom>
            <a:noFill/>
            <a:ln w="7620">
              <a:solidFill>
                <a:srgbClr val="263238">
                  <a:alpha val="30000"/>
                </a:srgbClr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81000" y="1704975"/>
              <a:ext cx="11430000" cy="495300"/>
            </a:xfrm>
            <a:prstGeom prst="rect">
              <a:avLst/>
            </a:prstGeom>
            <a:solidFill>
              <a:srgbClr val="1B2838">
                <a:alpha val="35000"/>
              </a:srgbClr>
            </a:solidFill>
            <a:ln w="4762">
              <a:solidFill>
                <a:srgbClr val="263238">
                  <a:alpha val="15000"/>
                </a:srgbClr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45261" y="1798796"/>
              <a:ext cx="4173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ECEFF1"/>
                  </a:solidFill>
                  <a:latin typeface="Segoe UI"/>
                  <a:ea typeface="Microsoft YaHei"/>
                  <a:cs typeface="Segoe UI"/>
                </a:rPr>
                <a:t>指令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041904" y="1823085"/>
              <a:ext cx="18300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2196F3"/>
                  </a:solidFill>
                  <a:latin typeface="Consolas"/>
                  <a:ea typeface="Consolas"/>
                  <a:cs typeface="Consolas"/>
                </a:rPr>
                <a:t>GEMM_PRELOAD, GEMM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71666" y="1763078"/>
              <a:ext cx="2340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00BCD4"/>
                  </a:solidFill>
                  <a:latin typeface="Consolas"/>
                  <a:ea typeface="Consolas"/>
                  <a:cs typeface="Consolas"/>
                </a:rPr>
                <a:t>ADD, MUL, MAC, DIV, SQRT, EXP,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71666" y="1944052"/>
              <a:ext cx="25944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00BCD4"/>
                  </a:solidFill>
                  <a:latin typeface="Consolas"/>
                  <a:ea typeface="Consolas"/>
                  <a:cs typeface="Consolas"/>
                </a:rPr>
                <a:t>GELU, ADDTREE, COMP, PIPE_BARRIER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519666" y="1763078"/>
              <a:ext cx="28408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4DD0E1"/>
                  </a:solidFill>
                  <a:latin typeface="Consolas"/>
                  <a:ea typeface="Consolas"/>
                  <a:cs typeface="Consolas"/>
                </a:rPr>
                <a:t>SCALAR_ADD, SCALAR_SUB, SCALAR_MUL,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519666" y="1944052"/>
              <a:ext cx="18551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4DD0E1"/>
                  </a:solidFill>
                  <a:latin typeface="Consolas"/>
                  <a:ea typeface="Consolas"/>
                  <a:cs typeface="Consolas"/>
                </a:rPr>
                <a:t>SCALAR_DIV, SCALAR_SQRT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81000" y="2200275"/>
              <a:ext cx="11430000" cy="495300"/>
            </a:xfrm>
            <a:prstGeom prst="rect">
              <a:avLst/>
            </a:prstGeom>
            <a:solidFill>
              <a:srgbClr val="0D1B2A">
                <a:alpha val="50000"/>
              </a:srgbClr>
            </a:solidFill>
            <a:ln w="4762">
              <a:solidFill>
                <a:srgbClr val="263238">
                  <a:alpha val="15000"/>
                </a:srgbClr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45261" y="2294096"/>
              <a:ext cx="8201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ECEFF1"/>
                  </a:solidFill>
                  <a:latin typeface="Segoe UI"/>
                  <a:ea typeface="Microsoft YaHei"/>
                  <a:cs typeface="Segoe UI"/>
                </a:rPr>
                <a:t>硬件单元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041142" y="2302192"/>
              <a:ext cx="22777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CEFF1"/>
                  </a:solidFill>
                  <a:latin typeface="Segoe UI"/>
                  <a:ea typeface="Microsoft YaHei"/>
                  <a:cs typeface="Segoe UI"/>
                </a:rPr>
                <a:t>脉动阵列 (Systolic Array)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70142" y="2302192"/>
              <a:ext cx="21120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ECEFF1"/>
                  </a:solidFill>
                  <a:latin typeface="Segoe UI"/>
                  <a:ea typeface="Segoe UI"/>
                  <a:cs typeface="Segoe UI"/>
                </a:rPr>
                <a:t>Vector SIMD (2048-bit)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518142" y="2302192"/>
              <a:ext cx="9452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ECEFF1"/>
                  </a:solidFill>
                  <a:latin typeface="Segoe UI"/>
                  <a:ea typeface="Segoe UI"/>
                  <a:cs typeface="Segoe UI"/>
                </a:rPr>
                <a:t>Scalar ALU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81000" y="2695575"/>
              <a:ext cx="11430000" cy="495300"/>
            </a:xfrm>
            <a:prstGeom prst="rect">
              <a:avLst/>
            </a:prstGeom>
            <a:solidFill>
              <a:srgbClr val="1B2838">
                <a:alpha val="35000"/>
              </a:srgbClr>
            </a:solidFill>
            <a:ln w="4762">
              <a:solidFill>
                <a:srgbClr val="263238">
                  <a:alpha val="15000"/>
                </a:srgbClr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45261" y="2789396"/>
              <a:ext cx="6187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ECEFF1"/>
                  </a:solidFill>
                  <a:latin typeface="Segoe UI"/>
                  <a:ea typeface="Microsoft YaHei"/>
                  <a:cs typeface="Segoe UI"/>
                </a:rPr>
                <a:t>并行度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041142" y="2797492"/>
              <a:ext cx="25489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CAF50"/>
                  </a:solidFill>
                  <a:latin typeface="Segoe UI"/>
                  <a:ea typeface="Microsoft YaHei"/>
                  <a:cs typeface="Segoe UI"/>
                </a:rPr>
                <a:t>多发射（深度 = core_height）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70142" y="2797492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9800"/>
                  </a:solidFill>
                  <a:latin typeface="Segoe UI"/>
                  <a:ea typeface="Microsoft YaHei"/>
                  <a:cs typeface="Segoe UI"/>
                </a:rPr>
                <a:t>单发射（前条未完成则阻塞）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518142" y="2797492"/>
              <a:ext cx="25762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9800"/>
                  </a:solidFill>
                  <a:latin typeface="Segoe UI"/>
                  <a:ea typeface="Microsoft YaHei"/>
                  <a:cs typeface="Segoe UI"/>
                </a:rPr>
                <a:t>严格单发射（pipeline 仅 1 条）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81000" y="3190875"/>
              <a:ext cx="11430000" cy="495300"/>
            </a:xfrm>
            <a:prstGeom prst="rect">
              <a:avLst/>
            </a:prstGeom>
            <a:solidFill>
              <a:srgbClr val="0D1B2A">
                <a:alpha val="50000"/>
              </a:srgbClr>
            </a:solidFill>
            <a:ln w="4762">
              <a:solidFill>
                <a:srgbClr val="263238">
                  <a:alpha val="15000"/>
                </a:srgbClr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45261" y="3284696"/>
              <a:ext cx="8201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ECEFF1"/>
                  </a:solidFill>
                  <a:latin typeface="Segoe UI"/>
                  <a:ea typeface="Microsoft YaHei"/>
                  <a:cs typeface="Segoe UI"/>
                </a:rPr>
                <a:t>延迟模型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042666" y="3325178"/>
              <a:ext cx="1881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0A4AE"/>
                  </a:solidFill>
                  <a:latin typeface="Consolas"/>
                  <a:ea typeface="Consolas"/>
                  <a:cs typeface="Consolas"/>
                </a:rPr>
                <a:t>1+(M+N-2)+max(blocks, 1)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71285" y="3317081"/>
              <a:ext cx="16092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0A4AE"/>
                  </a:solidFill>
                  <a:latin typeface="Consolas"/>
                  <a:ea typeface="Consolas"/>
                  <a:cs typeface="Consolas"/>
                </a:rPr>
                <a:t>vec_op_iter × latency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519285" y="3317081"/>
              <a:ext cx="11169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0A4AE"/>
                  </a:solidFill>
                  <a:latin typeface="Consolas"/>
                  <a:ea typeface="Microsoft YaHei"/>
                  <a:cs typeface="Consolas"/>
                </a:rPr>
                <a:t>固定 1-4 cycles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81000" y="3686175"/>
              <a:ext cx="11430000" cy="495300"/>
            </a:xfrm>
            <a:prstGeom prst="rect">
              <a:avLst/>
            </a:prstGeom>
            <a:solidFill>
              <a:srgbClr val="1B2838">
                <a:alpha val="35000"/>
              </a:srgbClr>
            </a:solidFill>
            <a:ln w="4762">
              <a:solidFill>
                <a:srgbClr val="263238">
                  <a:alpha val="15000"/>
                </a:srgbClr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45261" y="3779996"/>
              <a:ext cx="13338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ECEFF1"/>
                  </a:solidFill>
                  <a:latin typeface="Segoe UI"/>
                  <a:ea typeface="Segoe UI"/>
                  <a:cs typeface="Segoe UI"/>
                </a:rPr>
                <a:t>compute_size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041142" y="3788092"/>
              <a:ext cx="19946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196F3"/>
                  </a:solidFill>
                  <a:latin typeface="Consolas"/>
                  <a:ea typeface="Consolas"/>
                  <a:cs typeface="Consolas"/>
                </a:rPr>
                <a:t>tile_m × tile_k × tile_n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70142" y="3788092"/>
              <a:ext cx="14634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0BCD4"/>
                  </a:solidFill>
                  <a:latin typeface="Consolas"/>
                  <a:ea typeface="Microsoft YaHei"/>
                  <a:cs typeface="Consolas"/>
                </a:rPr>
                <a:t>U × U 或向量宽度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518142" y="378809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4DD0E1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381000" y="4181475"/>
              <a:ext cx="11430000" cy="495300"/>
            </a:xfrm>
            <a:prstGeom prst="rect">
              <a:avLst/>
            </a:prstGeom>
            <a:solidFill>
              <a:srgbClr val="0D1B2A">
                <a:alpha val="50000"/>
              </a:srgbClr>
            </a:solidFill>
            <a:ln w="4762">
              <a:solidFill>
                <a:srgbClr val="263238">
                  <a:alpha val="15000"/>
                </a:srgbClr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45261" y="4275296"/>
              <a:ext cx="6187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ECEFF1"/>
                  </a:solidFill>
                  <a:latin typeface="Segoe UI"/>
                  <a:ea typeface="Microsoft YaHei"/>
                  <a:cs typeface="Segoe UI"/>
                </a:rPr>
                <a:t>基本块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041142" y="4283392"/>
              <a:ext cx="10314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196F3"/>
                  </a:solidFill>
                  <a:latin typeface="Consolas"/>
                  <a:ea typeface="Consolas"/>
                  <a:cs typeface="Consolas"/>
                </a:rPr>
                <a:t>16 × 16 × 16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70142" y="4283392"/>
              <a:ext cx="12234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CEFF1"/>
                  </a:solidFill>
                  <a:latin typeface="Segoe UI"/>
                  <a:ea typeface="Microsoft YaHei"/>
                  <a:cs typeface="Segoe UI"/>
                </a:rPr>
                <a:t>128 FP16 / 拍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518142" y="428339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CEFF1"/>
                  </a:solidFill>
                  <a:latin typeface="Segoe UI"/>
                  <a:ea typeface="Microsoft YaHei"/>
                  <a:cs typeface="Segoe UI"/>
                </a:rPr>
                <a:t>1 元素 / 拍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381000" y="4676775"/>
              <a:ext cx="11430000" cy="495300"/>
            </a:xfrm>
            <a:prstGeom prst="rect">
              <a:avLst/>
            </a:prstGeom>
            <a:solidFill>
              <a:srgbClr val="1B2838">
                <a:alpha val="35000"/>
              </a:srgbClr>
            </a:solidFill>
            <a:ln w="4762">
              <a:solidFill>
                <a:srgbClr val="263238">
                  <a:alpha val="15000"/>
                </a:srgbClr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45261" y="4770596"/>
              <a:ext cx="8201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ECEFF1"/>
                  </a:solidFill>
                  <a:latin typeface="Segoe UI"/>
                  <a:ea typeface="Microsoft YaHei"/>
                  <a:cs typeface="Segoe UI"/>
                </a:rPr>
                <a:t>典型用途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041142" y="4778692"/>
              <a:ext cx="18015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CEFF1"/>
                  </a:solidFill>
                  <a:latin typeface="Segoe UI"/>
                  <a:ea typeface="Microsoft YaHei"/>
                  <a:cs typeface="Segoe UI"/>
                </a:rPr>
                <a:t>矩阵乘法、Gram 矩阵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70142" y="4778692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CEFF1"/>
                  </a:solidFill>
                  <a:latin typeface="Segoe UI"/>
                  <a:ea typeface="Microsoft YaHei"/>
                  <a:cs typeface="Segoe UI"/>
                </a:rPr>
                <a:t>逐元素运算、激活函数、同步屏障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518142" y="4778692"/>
              <a:ext cx="28607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CEFF1"/>
                  </a:solidFill>
                  <a:latin typeface="Segoe UI"/>
                  <a:ea typeface="Microsoft YaHei"/>
                  <a:cs typeface="Segoe UI"/>
                </a:rPr>
                <a:t>对角线元素操作（Cholesky/LDL）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381000" y="5172075"/>
              <a:ext cx="11430000" cy="495300"/>
            </a:xfrm>
            <a:prstGeom prst="roundRect">
              <a:avLst>
                <a:gd name="adj" fmla="val 5769"/>
              </a:avLst>
            </a:prstGeom>
            <a:solidFill>
              <a:srgbClr val="0D1B2A">
                <a:alpha val="50000"/>
              </a:srgbClr>
            </a:solidFill>
            <a:ln w="4762">
              <a:solidFill>
                <a:srgbClr val="263238">
                  <a:alpha val="15000"/>
                </a:srgbClr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45261" y="5265896"/>
              <a:ext cx="9721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ECEFF1"/>
                  </a:solidFill>
                  <a:latin typeface="Segoe UI"/>
                  <a:ea typeface="Microsoft YaHei"/>
                  <a:cs typeface="Segoe UI"/>
                </a:rPr>
                <a:t>SPAD 地址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041142" y="5273992"/>
              <a:ext cx="24202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ECEFF1"/>
                  </a:solidFill>
                  <a:latin typeface="Segoe UI"/>
                  <a:ea typeface="Segoe UI"/>
                  <a:cs typeface="Segoe UI"/>
                </a:rPr>
                <a:t>ACCUM_SPAD (0x20000000)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470142" y="5273992"/>
              <a:ext cx="17424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ECEFF1"/>
                  </a:solidFill>
                  <a:latin typeface="Segoe UI"/>
                  <a:ea typeface="Segoe UI"/>
                  <a:cs typeface="Segoe UI"/>
                </a:rPr>
                <a:t>SPAD (0x10000000)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518142" y="5273992"/>
              <a:ext cx="17424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ECEFF1"/>
                  </a:solidFill>
                  <a:latin typeface="Segoe UI"/>
                  <a:ea typeface="Segoe UI"/>
                  <a:cs typeface="Segoe UI"/>
                </a:rPr>
                <a:t>SPAD (0x10000000)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381000" y="5857875"/>
            <a:ext cx="11430000" cy="342900"/>
            <a:chOff x="381000" y="5857875"/>
            <a:chExt cx="11430000" cy="342900"/>
          </a:xfrm>
        </p:grpSpPr>
        <p:sp>
          <p:nvSpPr>
            <p:cNvPr id="62" name="Rectangle 62"/>
            <p:cNvSpPr/>
            <p:nvPr/>
          </p:nvSpPr>
          <p:spPr>
            <a:xfrm>
              <a:off x="381000" y="5857875"/>
              <a:ext cx="11430000" cy="342900"/>
            </a:xfrm>
            <a:prstGeom prst="roundRect">
              <a:avLst>
                <a:gd name="adj" fmla="val 5556"/>
              </a:avLst>
            </a:prstGeom>
            <a:solidFill>
              <a:srgbClr val="1B2838">
                <a:alpha val="40000"/>
              </a:srgbClr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2466363" y="5965031"/>
              <a:ext cx="72592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607D8B"/>
                  </a:solidFill>
                  <a:latin typeface="Segoe UI"/>
                  <a:ea typeface="Microsoft YaHei"/>
                  <a:cs typeface="Segoe UI"/>
                </a:rPr>
                <a:t>数据搬运流程：MOVIN: DRAM → SPAD | 计算：SPAD → Pipeline → SPAD/ACCUM | MOVOUT: SPAD → DRAM</a:t>
              </a:r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11368735" y="6506528"/>
            <a:ext cx="25709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07D8B">
                    <a:alphaMod val="50000"/>
                  </a:srgbClr>
                </a:solidFill>
                <a:latin typeface="Consolas"/>
                <a:ea typeface="Consolas"/>
                <a:cs typeface="Consolas"/>
              </a:rPr>
              <a:t>P07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2026-07-08T13:12:13Z</dcterms:created>
  <dcterms:modified xsi:type="dcterms:W3CDTF">2026-07-08T13:12:13Z</dcterms:modified>
  <cp:category/>
  <cp:contentStatus/>
</cp:coreProperties>
</file>