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3" r:id="rId9"/>
    <p:sldId id="308" r:id="rId10"/>
    <p:sldId id="309" r:id="rId11"/>
    <p:sldId id="310" r:id="rId12"/>
    <p:sldId id="311" r:id="rId13"/>
    <p:sldId id="314" r:id="rId19"/>
    <p:sldId id="31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 Asim 仿真器架构分享。Asim 是一个多核 NPU 周期级仿真器，今天我们来看它的架构设计、仿真流程和基础计算算子。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Asim 是从 ONNXim 分支出来的多核 NPU 周期级仿真器。它显式建模了 24 核 SystolicWS 核心、三种流水线、两种 NoC 模型和三种 DRAM 模型，底层使用 Ramulator2 做 HBM2 的 32 通道周期精确仿真。它的核心应用场景是 MIMO 通信系统中的矩阵求逆算子优化，输出包括周期计数、利用率和指令级 Trace。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仿真器的整体架构以 Simulator 为中心调度者，统一管理六大子系统。Core 数组是计算核心，每个 Core 内部有三条流水线。DRAM 通过 Ramulator2 建模 HBM2，Interconnect 负责 Core 和 DRAM 之间的数据路由。Scheduler 负责将 Tile 分发到多核，底层的 Model 到 Operation 到 Tile 到 Instruction 的三层模型是整个仿真器的核心设计范式。FormulaLogger 和 TraceLogger 分别记录数学语义和指令 Trace。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三层执行模型是理解整个仿真器的关键。最上层 Model 描述张量计算图，创建 Operation 节点并通过 Tensor 边连接。中间层 Operation 是算子实现，它的 initialize_tiles 方法按 batch 拆分生成 Tile，每个 Tile 再调用 initialize_instructions 生成指令序列。最底层 Instruction 是原子执行单元，携带 opcode、地址、维度和计算量信息。从 MOVIN 搬入数据，经过 GEMM 和向量标量计算，到 MOVOUT 搬出结果，一整条指令链就这样形成了。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仿真主循环的核心机制是三域时间推进。Core、DRAM 和 ICNT 各自有不同的时钟频率，set_cycle_mask 比较三域的时间戳，选择时间最小的域推进。Core 域负责模型调度、Tile 分发和核心计算，DRAM 域推进 Ramulator2 的周期模型，ICNT 域处理 Core 和 DRAM 之间的请求响应路由。三域频率不同自然形成交错执行，仿真结束后输出利用率统计、Trace CSV 和 Formula JSON。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每个 Core 内部通过 LD、EX、ST 三条指令队列将 Tile 指令分发到物理流水线。EX 队列根据 opcode 类型将指令路由到 Cube、Vector 或 Scalar 流水线。Cube 流水线是脉动阵列，支持多发射，以 16 乘 16 乘 16 为基本块做矩阵乘法。Vector 流水线是 2048 位的 SIMD 单元，单发射处理逐元素运算。Scalar 流水线是严格的单发射 ALU，compute_size 恒为 1，用于对角线元素操作。SPAD 和 ACCUM 各 256KB，通过双缓冲机制交替使用。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最后来看三类基础算子的对比。GEMM 系列映射到 Cube 脉动阵列，支持多发射，延迟由分块数和流水线填充排空决定，compute_size 是三维矩阵乘积累。Vector 系列包括十种运算和同步屏障，映射到 SIMD 单元，单发射，延迟由向量迭代次数乘延迟常数。Scalar 系列只有五种逐元素运算，严格单发射，compute_size 恒为 1，固定 1 到 4 周期延迟。数据搬运统一遵循 DRAM 到 SPAD 到流水线到 SPAD 再回 DRAM 的路径。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53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40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70" name="Group 70"/>
          <p:cNvGrpSpPr/>
          <p:nvPr/>
        </p:nvGrpSpPr>
        <p:grpSpPr>
          <a:xfrm>
            <a:off x="3238500" y="1287780"/>
            <a:ext cx="7018821" cy="2547461"/>
            <a:chOff x="3238500" y="1287780"/>
            <a:chExt cx="7018821" cy="2547461"/>
          </a:xfrm>
        </p:grpSpPr>
        <p:grpSp>
          <p:nvGrpSpPr>
            <p:cNvPr id="27" name="Group 27"/>
            <p:cNvGrpSpPr/>
            <p:nvPr/>
          </p:nvGrpSpPr>
          <p:grpSpPr>
            <a:xfrm>
              <a:off x="6858000" y="1714500"/>
              <a:ext cx="1905000" cy="1603057"/>
              <a:chOff x="6858000" y="1714500"/>
              <a:chExt cx="1905000" cy="1603057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85800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752475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191500" y="171450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85800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52475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191500" y="2238375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85800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52475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8191500" y="2762250"/>
                <a:ext cx="571500" cy="3810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38988" y="3141345"/>
                <a:ext cx="9184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2196F3">
                        <a:alphaMod val="80000"/>
                      </a:srgbClr>
                    </a:solidFill>
                    <a:latin typeface="Consolas"/>
                    <a:ea typeface="Consolas"/>
                    <a:cs typeface="Consolas"/>
                  </a:rPr>
                  <a:t>CORES [0..23]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667500" y="1524000"/>
              <a:ext cx="2286000" cy="2311241"/>
              <a:chOff x="6667500" y="1524000"/>
              <a:chExt cx="2286000" cy="2311241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0" y="1524000"/>
                <a:ext cx="2286000" cy="1905000"/>
              </a:xfrm>
              <a:prstGeom prst="roundRect">
                <a:avLst>
                  <a:gd name="adj" fmla="val 2000"/>
                </a:avLst>
              </a:prstGeom>
              <a:noFill/>
              <a:ln w="11430">
                <a:solidFill>
                  <a:srgbClr val="00BCD4">
                    <a:alpha val="50000"/>
                  </a:srgbClr>
                </a:solidFill>
                <a:custDash>
                  <a:ds d="500000" sp="333333"/>
                </a:custDash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805738" y="3673316"/>
                <a:ext cx="113204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rgbClr val="00BCD4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INTERCONNECT (NoC)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144000" y="1905000"/>
              <a:ext cx="1113321" cy="1692116"/>
              <a:chOff x="9144000" y="1905000"/>
              <a:chExt cx="1113321" cy="1692116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144000" y="1905000"/>
                <a:ext cx="762000" cy="1333500"/>
              </a:xfrm>
              <a:prstGeom prst="roundRect">
                <a:avLst>
                  <a:gd name="adj" fmla="val 375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239250" y="200025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239250" y="228600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239250" y="257175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239250" y="2857500"/>
                <a:ext cx="571500" cy="190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520238" y="3435191"/>
                <a:ext cx="7370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82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DRAM (HBM2)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905500" y="2190750"/>
              <a:ext cx="666750" cy="571500"/>
              <a:chOff x="5905500" y="2190750"/>
              <a:chExt cx="66675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905500" y="2190750"/>
                <a:ext cx="666750" cy="571500"/>
              </a:xfrm>
              <a:prstGeom prst="roundRect">
                <a:avLst>
                  <a:gd name="adj" fmla="val 5000"/>
                </a:avLst>
              </a:prstGeom>
              <a:noFill/>
              <a:ln w="11430">
                <a:solidFill>
                  <a:srgbClr val="2196F3">
                    <a:alpha val="50000"/>
                  </a:srgbClr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967412" y="2347912"/>
                <a:ext cx="537591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2196F3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SCHEDULER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6572250" y="2000250"/>
              <a:ext cx="285750" cy="476250"/>
            </a:xfrm>
            <a:custGeom>
              <a:avLst/>
              <a:gdLst/>
              <a:ahLst/>
              <a:cxnLst/>
              <a:rect l="l" t="t" r="r" b="b"/>
              <a:pathLst>
                <a:path w="285750" h="476250">
                  <a:moveTo>
                    <a:pt x="0" y="476250"/>
                  </a:moveTo>
                  <a:lnTo>
                    <a:pt x="28575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572250" y="200025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476250"/>
                  </a:moveTo>
                  <a:lnTo>
                    <a:pt x="57150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953500" y="2095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00BCD4">
                  <a:alpha val="40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95350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00BCD4">
                  <a:alpha val="40000"/>
                </a:srgbClr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9105900" y="2057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>
                <a:alpha val="40000"/>
              </a:srgbClr>
            </a:solidFill>
            <a:ln>
              <a:noFill/>
            </a:ln>
          </p:spPr>
        </p:sp>
        <p:sp>
          <p:nvSpPr>
            <p:cNvPr id="46" name="Polygon 46"/>
            <p:cNvSpPr/>
            <p:nvPr/>
          </p:nvSpPr>
          <p:spPr>
            <a:xfrm>
              <a:off x="9105900" y="28194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00BCD4">
                <a:alpha val="40000"/>
              </a:srgbClr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762500" y="3200400"/>
              <a:ext cx="1143000" cy="76200"/>
              <a:chOff x="4762500" y="3200400"/>
              <a:chExt cx="1143000" cy="76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762500" y="323850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11430">
                <a:solidFill>
                  <a:srgbClr val="00BCD4">
                    <a:alpha val="50000"/>
                  </a:srgbClr>
                </a:solidFill>
                <a:custDash>
                  <a:ds d="333333" sp="250000"/>
                </a:custDash>
              </a:ln>
            </p:spPr>
          </p:sp>
          <p:sp>
            <p:nvSpPr>
              <p:cNvPr id="48" name="Polygon 48"/>
              <p:cNvSpPr/>
              <p:nvPr/>
            </p:nvSpPr>
            <p:spPr>
              <a:xfrm>
                <a:off x="5829300" y="32004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BCD4">
                  <a:alpha val="50000"/>
                </a:srgbClr>
              </a:solidFill>
              <a:ln>
                <a:noFill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3238500" y="2952750"/>
              <a:ext cx="1524000" cy="266700"/>
              <a:chOff x="3238500" y="2952750"/>
              <a:chExt cx="1524000" cy="266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3238500" y="2952750"/>
                <a:ext cx="762000" cy="266700"/>
              </a:xfrm>
              <a:prstGeom prst="roundRect">
                <a:avLst>
                  <a:gd name="adj" fmla="val 7143"/>
                </a:avLst>
              </a:pr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290888" y="3052762"/>
                <a:ext cx="345567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MODEL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4095750" y="2952750"/>
                <a:ext cx="571500" cy="266700"/>
              </a:xfrm>
              <a:prstGeom prst="roundRect">
                <a:avLst>
                  <a:gd name="adj" fmla="val 7143"/>
                </a:avLst>
              </a:pr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138612" y="3052762"/>
                <a:ext cx="14820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50" dirty="0">
                    <a:solidFill>
                      <a:srgbClr val="4DD0E1">
                        <a:alphaMod val="70000"/>
                      </a:srgbClr>
                    </a:solidFill>
                    <a:latin typeface="Consolas"/>
                    <a:ea typeface="Consolas"/>
                    <a:cs typeface="Consolas"/>
                  </a:rPr>
                  <a:t>OP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400050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66725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1430">
                <a:solidFill>
                  <a:srgbClr val="4DD0E1">
                    <a:alpha val="50000"/>
                  </a:srgbClr>
                </a:solidFill>
              </a:ln>
            </p:spPr>
          </p:sp>
        </p:grpSp>
        <p:grpSp>
          <p:nvGrpSpPr>
            <p:cNvPr id="67" name="Group 67"/>
            <p:cNvGrpSpPr/>
            <p:nvPr/>
          </p:nvGrpSpPr>
          <p:grpSpPr>
            <a:xfrm>
              <a:off x="6667500" y="1390650"/>
              <a:ext cx="2381250" cy="2047875"/>
              <a:chOff x="6667500" y="1390650"/>
              <a:chExt cx="2381250" cy="204787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6667500" y="14287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8953500" y="142875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6667500" y="14097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0" name="Polygon 60"/>
              <p:cNvSpPr/>
              <p:nvPr/>
            </p:nvSpPr>
            <p:spPr>
              <a:xfrm>
                <a:off x="6667500" y="1390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57150" y="0"/>
                    </a:lnTo>
                    <a:lnTo>
                      <a:pt x="57150" y="3810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1" name="Polygon 61"/>
              <p:cNvSpPr/>
              <p:nvPr/>
            </p:nvSpPr>
            <p:spPr>
              <a:xfrm>
                <a:off x="8896350" y="1390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57150" y="19050"/>
                    </a:move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8953500" y="1524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8953500" y="34290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9029700" y="1524000"/>
                <a:ext cx="9525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0">
                    <a:moveTo>
                      <a:pt x="0" y="0"/>
                    </a:moveTo>
                    <a:lnTo>
                      <a:pt x="0" y="1905000"/>
                    </a:lnTo>
                  </a:path>
                </a:pathLst>
              </a:custGeom>
              <a:noFill/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5" name="Polygon 65"/>
              <p:cNvSpPr/>
              <p:nvPr/>
            </p:nvSpPr>
            <p:spPr>
              <a:xfrm>
                <a:off x="9010650" y="152400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19050" y="0"/>
                    </a:moveTo>
                    <a:lnTo>
                      <a:pt x="0" y="57150"/>
                    </a:lnTo>
                    <a:lnTo>
                      <a:pt x="38100" y="5715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  <p:sp>
            <p:nvSpPr>
              <p:cNvPr id="66" name="Polygon 66"/>
              <p:cNvSpPr/>
              <p:nvPr/>
            </p:nvSpPr>
            <p:spPr>
              <a:xfrm>
                <a:off x="9010650" y="3371850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19050" y="57150"/>
                    </a:move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607D8B">
                  <a:alpha val="40000"/>
                </a:srgbClr>
              </a:solidFill>
              <a:ln w="4762">
                <a:solidFill>
                  <a:srgbClr val="607D8B">
                    <a:alpha val="40000"/>
                  </a:srgbClr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710488" y="1287780"/>
              <a:ext cx="231648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607D8B">
                      <a:alphaMod val="50000"/>
                    </a:srgbClr>
                  </a:solidFill>
                  <a:latin typeface="Consolas"/>
                  <a:ea typeface="Consolas"/>
                  <a:cs typeface="Consolas"/>
                </a:rPr>
                <a:t>240px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138" y="2459355"/>
              <a:ext cx="231648" cy="119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" dirty="0">
                  <a:solidFill>
                    <a:srgbClr val="607D8B">
                      <a:alphaMod val="50000"/>
                    </a:srgbClr>
                  </a:solidFill>
                  <a:latin typeface="Consolas"/>
                  <a:ea typeface="Consolas"/>
                  <a:cs typeface="Consolas"/>
                </a:rPr>
                <a:t>200px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76250" y="476250"/>
            <a:ext cx="11239500" cy="5905500"/>
            <a:chOff x="476250" y="476250"/>
            <a:chExt cx="11239500" cy="5905500"/>
          </a:xfrm>
        </p:grpSpPr>
        <p:sp>
          <p:nvSpPr>
            <p:cNvPr id="71" name="Freeform 71"/>
            <p:cNvSpPr/>
            <p:nvPr/>
          </p:nvSpPr>
          <p:spPr>
            <a:xfrm>
              <a:off x="476250" y="4762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50"/>
                  </a:moveTo>
                  <a:lnTo>
                    <a:pt x="0" y="0"/>
                  </a:lnTo>
                  <a:lnTo>
                    <a:pt x="285750" y="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1430000" y="4762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285750"/>
                  </a:move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476250" y="6096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0" y="285750"/>
                  </a:lnTo>
                  <a:lnTo>
                    <a:pt x="285750" y="28575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1430000" y="6096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285750" y="285750"/>
                  </a:ln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2196F3">
                  <a:alpha val="50000"/>
                </a:srgbClr>
              </a:solidFill>
            </a:ln>
          </p:spPr>
        </p:sp>
      </p:grpSp>
      <p:sp>
        <p:nvSpPr>
          <p:cNvPr id="76" name="TextBox 76"/>
          <p:cNvSpPr txBox="1"/>
          <p:nvPr/>
        </p:nvSpPr>
        <p:spPr>
          <a:xfrm>
            <a:off x="552450" y="1893570"/>
            <a:ext cx="170240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ECEFF1">
                    <a:alphaMod val="95000"/>
                  </a:srgbClr>
                </a:solidFill>
                <a:latin typeface="Arial"/>
                <a:ea typeface="Arial"/>
                <a:cs typeface="Arial"/>
              </a:rPr>
              <a:t>Asim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2667000"/>
            <a:ext cx="1143000" cy="28575"/>
          </a:xfrm>
          <a:prstGeom prst="rect">
            <a:avLst/>
          </a:prstGeom>
          <a:solidFill>
            <a:srgbClr val="00BCD4">
              <a:alpha val="80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57784" y="2851785"/>
            <a:ext cx="39639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90A4AE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多核 NPU 周期级仿真器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62356" y="352044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07D8B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架构、流水线与基础算子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66166" y="5982652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07D8B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2026-07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368735" y="5982652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60000"/>
                  </a:srgbClr>
                </a:solidFill>
                <a:latin typeface="Consolas"/>
                <a:ea typeface="Consolas"/>
                <a:cs typeface="Consolas"/>
              </a:rPr>
              <a:t>P01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6286500"/>
            <a:ext cx="11049000" cy="4762"/>
          </a:xfrm>
          <a:prstGeom prst="rect">
            <a:avLst/>
          </a:prstGeom>
          <a:solidFill>
            <a:srgbClr val="263238">
              <a:alpha val="5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3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381000"/>
            <a:ext cx="11430000" cy="190500"/>
            <a:chOff x="381000" y="381000"/>
            <a:chExt cx="11430000" cy="190500"/>
          </a:xfrm>
        </p:grpSpPr>
        <p:sp>
          <p:nvSpPr>
            <p:cNvPr id="10" name="Freeform 10"/>
            <p:cNvSpPr/>
            <p:nvPr/>
          </p:nvSpPr>
          <p:spPr>
            <a:xfrm>
              <a:off x="381000" y="38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620500" y="381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190500"/>
                  </a:moveTo>
                  <a:lnTo>
                    <a:pt x="190500" y="0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2196F3">
                  <a:alpha val="3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53212" y="373380"/>
            <a:ext cx="207203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项目概览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91440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60832" y="1154430"/>
            <a:ext cx="90443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Asim 是一个显式建模 Core / NoC / DRAM 的多核 NPU 周期级仿真器，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0832" y="1468755"/>
            <a:ext cx="81311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服务于 MIMO 通信系统中矩阵求逆算子的指令级微架构优化。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17" name="Rectangle 17"/>
            <p:cNvSpPr/>
            <p:nvPr/>
          </p:nvSpPr>
          <p:spPr>
            <a:xfrm>
              <a:off x="571500" y="2095500"/>
              <a:ext cx="5334000" cy="2000250"/>
            </a:xfrm>
            <a:prstGeom prst="roundRect">
              <a:avLst>
                <a:gd name="adj" fmla="val 1429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09550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4568" y="2145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568" y="2584132"/>
              <a:ext cx="242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多核 NPU 周期级仿真器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092" y="2902268"/>
              <a:ext cx="1816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0A4AE"/>
                  </a:solidFill>
                  <a:latin typeface="Arial"/>
                  <a:ea typeface="Arial"/>
                  <a:cs typeface="Arial"/>
                </a:rPr>
                <a:t>Forked from ONNXim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6092" y="3188018"/>
              <a:ext cx="266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基于类昇腾 910B 脉动阵列架构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092" y="3473768"/>
              <a:ext cx="10387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周期精确建模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4333875"/>
            <a:ext cx="5448090" cy="1524000"/>
            <a:chOff x="571500" y="4333875"/>
            <a:chExt cx="5448090" cy="1524000"/>
          </a:xfrm>
        </p:grpSpPr>
        <p:sp>
          <p:nvSpPr>
            <p:cNvPr id="39" name="Rectangle 39"/>
            <p:cNvSpPr/>
            <p:nvPr/>
          </p:nvSpPr>
          <p:spPr>
            <a:xfrm>
              <a:off x="571500" y="4333875"/>
              <a:ext cx="5334000" cy="1524000"/>
            </a:xfrm>
            <a:prstGeom prst="roundRect">
              <a:avLst>
                <a:gd name="adj" fmla="val 1875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433387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4568" y="43843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核心场景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4568" y="4822508"/>
              <a:ext cx="3032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Arial"/>
                  <a:ea typeface="Microsoft YaHei"/>
                  <a:cs typeface="Arial"/>
                </a:rPr>
                <a:t>MIMO 通信系统矩阵求逆算子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092" y="5140642"/>
              <a:ext cx="528349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6</a:t>
              </a:r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种求逆算子（Cholesky / LDL / Newton-Schulz / Block-Richardson）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092" y="5397818"/>
              <a:ext cx="3114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LLM 驱动的自动化指令级微架构优化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86500" y="4333875"/>
            <a:ext cx="5334000" cy="1524000"/>
            <a:chOff x="6286500" y="4333875"/>
            <a:chExt cx="5334000" cy="1524000"/>
          </a:xfrm>
        </p:grpSpPr>
        <p:sp>
          <p:nvSpPr>
            <p:cNvPr id="46" name="Rectangle 46"/>
            <p:cNvSpPr/>
            <p:nvPr/>
          </p:nvSpPr>
          <p:spPr>
            <a:xfrm>
              <a:off x="6286500" y="4333875"/>
              <a:ext cx="5334000" cy="1524000"/>
            </a:xfrm>
            <a:prstGeom prst="roundRect">
              <a:avLst>
                <a:gd name="adj" fmla="val 1875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433387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2196F3">
                <a:alpha val="15000"/>
              </a:srgbClr>
            </a:solidFill>
            <a:ln w="7620">
              <a:solidFill>
                <a:srgbClr val="2196F3">
                  <a:alpha val="40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49568" y="43843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D0E1"/>
                  </a:solidFill>
                  <a:latin typeface="Arial"/>
                  <a:ea typeface="Microsoft YaHei"/>
                  <a:cs typeface="Arial"/>
                </a:rPr>
                <a:t>仿真输出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0330" y="4838700"/>
              <a:ext cx="1259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Cycle Counts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88630" y="4838700"/>
              <a:ext cx="1253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Utilization 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1092" y="5140642"/>
              <a:ext cx="2827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周期计数（Core / DRAM / ICNT）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89392" y="5140642"/>
              <a:ext cx="2612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0A4AE"/>
                  </a:solidFill>
                  <a:latin typeface="Arial"/>
                  <a:ea typeface="Microsoft YaHei"/>
                  <a:cs typeface="Arial"/>
                </a:rPr>
                <a:t>Cube / Vector / Scalar 利用率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0330" y="5410200"/>
              <a:ext cx="991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Trace CSV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88630" y="5410200"/>
              <a:ext cx="1361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Formula JSON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P02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6429375"/>
            <a:ext cx="11049000" cy="4762"/>
          </a:xfrm>
          <a:prstGeom prst="rect">
            <a:avLst/>
          </a:prstGeom>
          <a:solidFill>
            <a:srgbClr val="263238">
              <a:alpha val="40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553212" y="278130"/>
            <a:ext cx="359862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仿真器整体架构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81915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63118" y="1012508"/>
            <a:ext cx="875639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Simulator 作为中心调度者，统一管理 7 大子系统，通过三域时间推进实现周期精确仿真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1524000"/>
            <a:ext cx="12192000" cy="4581525"/>
            <a:chOff x="0" y="1524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3212" y="278130"/>
            <a:ext cx="308975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三层执行模型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81915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3118" y="1012508"/>
            <a:ext cx="68667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Model → Operation → Tile → Instruction 是仿真器最核心的设计范式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524000"/>
            <a:ext cx="11049000" cy="4191000"/>
            <a:chOff x="571500" y="1524000"/>
            <a:chExt cx="11049000" cy="41910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524000"/>
              <a:ext cx="11049000" cy="1238250"/>
              <a:chOff x="571500" y="1524000"/>
              <a:chExt cx="11049000" cy="1238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524000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2196F3">
                    <a:alpha val="60000"/>
                  </a:srgbClr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1524000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2196F3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37131" y="2060258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2196F3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27582" y="1678305"/>
                <a:ext cx="293325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Model（张量计算图）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29868" y="2060258"/>
                <a:ext cx="54774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创建 Operation 节点，通过 Tensor 边连接形成计算图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31392" y="2378392"/>
                <a:ext cx="53918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07D8B"/>
                    </a:solidFill>
                    <a:latin typeface="Consolas"/>
                    <a:ea typeface="Microsoft YaHei"/>
                    <a:cs typeface="Consolas"/>
                  </a:rPr>
                  <a:t>initialize_model() → 构建 Operation 依赖图 → initialize_tiles()</a:t>
                </a:r>
              </a:p>
            </p:txBody>
          </p:sp>
        </p:grpSp>
        <p:sp>
          <p:nvSpPr>
            <p:cNvPr id="18" name="Polygon 18"/>
            <p:cNvSpPr/>
            <p:nvPr/>
          </p:nvSpPr>
          <p:spPr>
            <a:xfrm>
              <a:off x="6000750" y="2819400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0"/>
                  </a:moveTo>
                  <a:lnTo>
                    <a:pt x="95250" y="1333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2196F3">
                <a:alpha val="60000"/>
              </a:srgbClr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27622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2196F3">
                  <a:alpha val="6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1166" y="2801302"/>
              <a:ext cx="584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生成 Tile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71500" y="3000375"/>
              <a:ext cx="11049000" cy="1238250"/>
              <a:chOff x="571500" y="3000375"/>
              <a:chExt cx="11049000" cy="1238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3000375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71500" y="3000375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00BCD4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37131" y="3536632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BCD4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27582" y="3154680"/>
                <a:ext cx="32772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Operation（算子实现）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9868" y="3536632"/>
                <a:ext cx="80947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按 batch 拆分生成 Tile，每个 Tile 调用 initialize_instructions() 生成指令序列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392" y="3854768"/>
                <a:ext cx="57111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initialize_tiles() → for each batch → initialize_instructions(tile)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6000750" y="429577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0"/>
                  </a:moveTo>
                  <a:lnTo>
                    <a:pt x="95250" y="1333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00BCD4">
                <a:alpha val="60000"/>
              </a:srgb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096000" y="423862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00BCD4">
                  <a:alpha val="6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1166" y="42776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生成指令序列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71500" y="4476750"/>
              <a:ext cx="11049000" cy="1238250"/>
              <a:chOff x="571500" y="4476750"/>
              <a:chExt cx="11049000" cy="1238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71500" y="4476750"/>
                <a:ext cx="11049000" cy="1238250"/>
              </a:xfrm>
              <a:prstGeom prst="roundRect">
                <a:avLst>
                  <a:gd name="adj" fmla="val 3077"/>
                </a:avLst>
              </a:prstGeom>
              <a:solidFill>
                <a:srgbClr val="1B2838">
                  <a:alpha val="70000"/>
                </a:srgbClr>
              </a:solidFill>
              <a:ln w="11430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" y="4476750"/>
                <a:ext cx="419100" cy="1238250"/>
              </a:xfrm>
              <a:prstGeom prst="roundRect">
                <a:avLst>
                  <a:gd name="adj" fmla="val 9091"/>
                </a:avLst>
              </a:prstGeom>
              <a:solidFill>
                <a:srgbClr val="4DD0E1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37131" y="5013008"/>
                <a:ext cx="2878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4DD0E1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7582" y="4631055"/>
                <a:ext cx="406417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CEFF1"/>
                    </a:solidFill>
                    <a:latin typeface="Arial"/>
                    <a:ea typeface="Microsoft YaHei"/>
                    <a:cs typeface="Arial"/>
                  </a:rPr>
                  <a:t>Instruction（原子执行单元）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29868" y="5013008"/>
                <a:ext cx="75911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90A4AE"/>
                    </a:solidFill>
                    <a:latin typeface="Arial"/>
                    <a:ea typeface="Microsoft YaHei"/>
                    <a:cs typeface="Arial"/>
                  </a:rPr>
                  <a:t>每条指令携带 opcode / src_addr / dest_addr / tile 维度 / compute_size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31392" y="5331142"/>
                <a:ext cx="63601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607D8B"/>
                    </a:solidFill>
                    <a:latin typeface="Consolas"/>
                    <a:ea typeface="Consolas"/>
                    <a:cs typeface="Consolas"/>
                  </a:rPr>
                  <a:t>MOVIN → GEMM_PRELOAD → GEMM → ADD → SCALAR_SQRT → ... → MOVOUT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65404" y="6014085"/>
            <a:ext cx="7588606" cy="425196"/>
            <a:chOff x="565404" y="6014085"/>
            <a:chExt cx="7588606" cy="425196"/>
          </a:xfrm>
        </p:grpSpPr>
        <p:sp>
          <p:nvSpPr>
            <p:cNvPr id="39" name="TextBox 39"/>
            <p:cNvSpPr txBox="1"/>
            <p:nvPr/>
          </p:nvSpPr>
          <p:spPr>
            <a:xfrm>
              <a:off x="565404" y="6014085"/>
              <a:ext cx="662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Instruction { Opcode opcode; addr_type dest_addr; vector&lt;addr_type&gt; src_addrs;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5404" y="6204585"/>
              <a:ext cx="75886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uint32_t compute_size; uint32_t tile_m, tile_k, tile_n; cycle_type start_cycle, finish_cycle; }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1143000"/>
            <a:ext cx="12192000" cy="4581525"/>
            <a:chOff x="0" y="1143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5000"/>
                </a:srgbClr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53212" y="230505"/>
            <a:ext cx="614293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仿真主循环：三域时间推进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771525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3880" y="885825"/>
            <a:ext cx="75421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set_cycle_mask() 比较 Core / DRAM / ICNT 三域时间戳，实现异构频率精确交错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428750"/>
            <a:ext cx="7048500" cy="3286125"/>
            <a:chOff x="571500" y="1428750"/>
            <a:chExt cx="7048500" cy="3286125"/>
          </a:xfrm>
        </p:grpSpPr>
        <p:sp>
          <p:nvSpPr>
            <p:cNvPr id="12" name="Rectangle 12"/>
            <p:cNvSpPr/>
            <p:nvPr/>
          </p:nvSpPr>
          <p:spPr>
            <a:xfrm>
              <a:off x="1143000" y="1428750"/>
              <a:ext cx="3048000" cy="533400"/>
            </a:xfrm>
            <a:prstGeom prst="roundRect">
              <a:avLst>
                <a:gd name="adj" fmla="val 7143"/>
              </a:avLst>
            </a:prstGeom>
            <a:solidFill>
              <a:srgbClr val="1B2838">
                <a:alpha val="80000"/>
              </a:srgbClr>
            </a:solidFill>
            <a:ln w="14288">
              <a:solidFill>
                <a:srgbClr val="2196F3">
                  <a:alpha val="7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52967" y="1495425"/>
              <a:ext cx="18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CEFF1"/>
                  </a:solidFill>
                  <a:latin typeface="Consolas"/>
                  <a:ea typeface="Consolas"/>
                  <a:cs typeface="Consolas"/>
                </a:rPr>
                <a:t>while (running())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05774" y="17616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所有组件都空闲时退出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667000" y="19621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1430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2628900" y="21336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196F3">
                <a:alpha val="5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43000" y="2238375"/>
              <a:ext cx="3048000" cy="533400"/>
            </a:xfrm>
            <a:prstGeom prst="roundRect">
              <a:avLst>
                <a:gd name="adj" fmla="val 7143"/>
              </a:avLst>
            </a:prstGeom>
            <a:solidFill>
              <a:srgbClr val="1B2838">
                <a:alpha val="80000"/>
              </a:srgbClr>
            </a:solidFill>
            <a:ln w="14288">
              <a:solidFill>
                <a:srgbClr val="00BCD4">
                  <a:alpha val="7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31764" y="2305050"/>
              <a:ext cx="1870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ECEFF1"/>
                  </a:solidFill>
                  <a:latin typeface="Consolas"/>
                  <a:ea typeface="Consolas"/>
                  <a:cs typeface="Consolas"/>
                </a:rPr>
                <a:t>set_cycle_mask()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8893" y="2571274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比较三域时间戳，选择推进域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67000" y="277177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w="11430">
              <a:solidFill>
                <a:srgbClr val="00BCD4">
                  <a:alpha val="5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28900" y="28956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3810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BCD4">
                <a:alpha val="5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000375"/>
              <a:ext cx="2095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3000375"/>
              <a:ext cx="2095500" cy="323850"/>
            </a:xfrm>
            <a:prstGeom prst="roundRect">
              <a:avLst>
                <a:gd name="adj" fmla="val 11765"/>
              </a:avLst>
            </a:prstGeom>
            <a:solidFill>
              <a:srgbClr val="2196F3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3734" y="3089910"/>
              <a:ext cx="97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CORE_MASK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3421856"/>
              <a:ext cx="1132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handle_model()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3669506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pop_finished_tile()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3917156"/>
              <a:ext cx="1177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issue(new_tile)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4164806"/>
              <a:ext cx="1056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core-&gt;cycle()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285" y="4412456"/>
              <a:ext cx="1056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core_cycles++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57500" y="3000375"/>
              <a:ext cx="1714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4DD0E1">
                  <a:alpha val="5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0" y="3000375"/>
              <a:ext cx="1714500" cy="323850"/>
            </a:xfrm>
            <a:prstGeom prst="roundRect">
              <a:avLst>
                <a:gd name="adj" fmla="val 11765"/>
              </a:avLst>
            </a:prstGeom>
            <a:solidFill>
              <a:srgbClr val="4DD0E1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29234" y="3089910"/>
              <a:ext cx="97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DRAM_MASK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2285" y="3498056"/>
              <a:ext cx="1086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dram-&gt;cycle()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43047" y="3799999"/>
              <a:ext cx="10998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Ramulator2 HBM2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43047" y="4038124"/>
              <a:ext cx="981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32 通道周期推进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42285" y="4355306"/>
              <a:ext cx="1503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dram_time += period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62500" y="3000375"/>
              <a:ext cx="2857500" cy="1714500"/>
            </a:xfrm>
            <a:prstGeom prst="roundRect">
              <a:avLst>
                <a:gd name="adj" fmla="val 2222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00BCD4">
                  <a:alpha val="50000"/>
                </a:srgbClr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62500" y="3000375"/>
              <a:ext cx="2857500" cy="323850"/>
            </a:xfrm>
            <a:prstGeom prst="roundRect">
              <a:avLst>
                <a:gd name="adj" fmla="val 11765"/>
              </a:avLst>
            </a:prstGeom>
            <a:solidFill>
              <a:srgbClr val="00BCD4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46059" y="3089910"/>
              <a:ext cx="890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ICNT_MASK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7285" y="3421856"/>
              <a:ext cx="25386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Core → ICNT: push memory request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7285" y="3669506"/>
              <a:ext cx="1932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ICNT → Core: pop response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285" y="3917156"/>
              <a:ext cx="2260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ICNT → DRAM: forward request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47285" y="4164806"/>
              <a:ext cx="222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DRAM → ICNT: return response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47285" y="4412456"/>
              <a:ext cx="1018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DD0E1"/>
                  </a:solidFill>
                  <a:latin typeface="Segoe UI"/>
                  <a:ea typeface="Segoe UI"/>
                  <a:cs typeface="Segoe UI"/>
                </a:rPr>
                <a:t>icnt-&gt;cycle()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184642" y="1330642"/>
            <a:ext cx="2140458" cy="2488597"/>
            <a:chOff x="8184642" y="1330642"/>
            <a:chExt cx="2140458" cy="2488597"/>
          </a:xfrm>
        </p:grpSpPr>
        <p:sp>
          <p:nvSpPr>
            <p:cNvPr id="46" name="TextBox 46"/>
            <p:cNvSpPr txBox="1"/>
            <p:nvPr/>
          </p:nvSpPr>
          <p:spPr>
            <a:xfrm>
              <a:off x="8184642" y="13306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三域时间推进示意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86166" y="1648778"/>
              <a:ext cx="16760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Core: 1GHz (1ns period)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6166" y="1867852"/>
              <a:ext cx="1911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DRAM: 500MHz (2ns period)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6166" y="2086928"/>
              <a:ext cx="1846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07D8B"/>
                  </a:solidFill>
                  <a:latin typeface="Consolas"/>
                  <a:ea typeface="Consolas"/>
                  <a:cs typeface="Consolas"/>
                </a:rPr>
                <a:t>ICNT: 500MHz (2ns period)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8186738" y="2495550"/>
              <a:ext cx="2138362" cy="774382"/>
              <a:chOff x="8186738" y="2495550"/>
              <a:chExt cx="2138362" cy="774382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8186738" y="2522220"/>
                <a:ext cx="27984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2196F3"/>
                    </a:solidFill>
                    <a:latin typeface="Consolas"/>
                    <a:ea typeface="Consolas"/>
                    <a:cs typeface="Consolas"/>
                  </a:rPr>
                  <a:t>Core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7630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90297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92964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95631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98298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10096500" y="2495550"/>
                <a:ext cx="2286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2196F3">
                  <a:alpha val="50000"/>
                </a:srgbClr>
              </a:solidFill>
              <a:ln w="14288">
                <a:solidFill>
                  <a:srgbClr val="2196F3">
                    <a:alpha val="70000"/>
                  </a:srgbClr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186738" y="2807970"/>
                <a:ext cx="3167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4DD0E1"/>
                    </a:solidFill>
                    <a:latin typeface="Consolas"/>
                    <a:ea typeface="Consolas"/>
                    <a:cs typeface="Consolas"/>
                  </a:rPr>
                  <a:t>DRAM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7630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92964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829800" y="278130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4DD0E1">
                  <a:alpha val="40000"/>
                </a:srgbClr>
              </a:solidFill>
              <a:ln w="14288">
                <a:solidFill>
                  <a:srgbClr val="4DD0E1">
                    <a:alpha val="60000"/>
                  </a:srgbClr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186738" y="3093720"/>
                <a:ext cx="25915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00BCD4"/>
                    </a:solidFill>
                    <a:latin typeface="Consolas"/>
                    <a:ea typeface="Consolas"/>
                    <a:cs typeface="Consolas"/>
                  </a:rPr>
                  <a:t>ICNT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87630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2964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9829800" y="3067050"/>
                <a:ext cx="495300" cy="133350"/>
              </a:xfrm>
              <a:prstGeom prst="roundRect">
                <a:avLst>
                  <a:gd name="adj" fmla="val 7143"/>
                </a:avLst>
              </a:prstGeom>
              <a:solidFill>
                <a:srgbClr val="00BCD4">
                  <a:alpha val="40000"/>
                </a:srgbClr>
              </a:solidFill>
              <a:ln w="14288">
                <a:solidFill>
                  <a:srgbClr val="00BCD4">
                    <a:alpha val="60000"/>
                  </a:srgbClr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186547" y="3418999"/>
              <a:ext cx="20837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每个 step 选择时间戳最小的域推进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86547" y="36285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频率不同自然形成交错执行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3118" y="4953000"/>
            <a:ext cx="7267817" cy="689134"/>
            <a:chOff x="563118" y="4953000"/>
            <a:chExt cx="7267817" cy="689134"/>
          </a:xfrm>
        </p:grpSpPr>
        <p:sp>
          <p:nvSpPr>
            <p:cNvPr id="69" name="Line 69"/>
            <p:cNvSpPr/>
            <p:nvPr/>
          </p:nvSpPr>
          <p:spPr>
            <a:xfrm>
              <a:off x="571500" y="4953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7620">
              <a:solidFill>
                <a:srgbClr val="263238">
                  <a:alpha val="5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3118" y="5108258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仿真结束 → 统计输出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40380" y="5124450"/>
              <a:ext cx="11415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Core 利用率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945380" y="5124450"/>
              <a:ext cx="991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Trace CSV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69380" y="5124450"/>
              <a:ext cx="1361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Formula JSON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42285" y="5422106"/>
              <a:ext cx="2016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Cube% / Vector% / Scalar%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947285" y="54221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指令级时间线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71285" y="5422106"/>
              <a:ext cx="1331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数学语义 DAG 验证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53212" y="230505"/>
            <a:ext cx="7003447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Core 微架构：三条并行流水线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771525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3880" y="933450"/>
            <a:ext cx="691531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每个 Core 内部通过 LD/EX/ST 指令队列将 Tile 指令分发到三条物理流水线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428750"/>
            <a:ext cx="2571750" cy="571500"/>
            <a:chOff x="571500" y="1428750"/>
            <a:chExt cx="2571750" cy="571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2571750" cy="571500"/>
            </a:xfrm>
            <a:prstGeom prst="roundRect">
              <a:avLst>
                <a:gd name="adj" fmla="val 6667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6385" y="1521142"/>
              <a:ext cx="2261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CEFF1"/>
                  </a:solidFill>
                  <a:latin typeface="Consolas"/>
                  <a:ea typeface="Microsoft YaHei"/>
                  <a:cs typeface="Consolas"/>
                </a:rPr>
                <a:t>Tile 双缓冲 (Buffer 0/1)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415" y="1780699"/>
              <a:ext cx="2087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deque&lt;Instruction&gt; instructions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1857375" y="2000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9525">
            <a:solidFill>
              <a:srgbClr val="2196F3">
                <a:alpha val="50000"/>
              </a:srgbClr>
            </a:solidFill>
          </a:ln>
        </p:spPr>
      </p:sp>
      <p:sp>
        <p:nvSpPr>
          <p:cNvPr id="17" name="Polygon 17"/>
          <p:cNvSpPr/>
          <p:nvPr/>
        </p:nvSpPr>
        <p:spPr>
          <a:xfrm>
            <a:off x="1819275" y="2181225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  <a:close/>
              </a:path>
            </a:pathLst>
          </a:custGeom>
          <a:solidFill>
            <a:srgbClr val="2196F3">
              <a:alpha val="5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4DD0E1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44778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LD Queue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909" y="2569845"/>
            <a:ext cx="12576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MOVIN → DRAM 读请求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428875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2196F3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902153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EX Queue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85383" y="2569845"/>
            <a:ext cx="14014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90A4AE"/>
                </a:solidFill>
                <a:latin typeface="Segoe UI"/>
                <a:ea typeface="Segoe UI"/>
                <a:cs typeface="Segoe UI"/>
              </a:rPr>
              <a:t>GEMM / Vector / Scalar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0" y="2286000"/>
            <a:ext cx="1714500" cy="476250"/>
          </a:xfrm>
          <a:prstGeom prst="roundRect">
            <a:avLst>
              <a:gd name="adj" fmla="val 6000"/>
            </a:avLst>
          </a:prstGeom>
          <a:solidFill>
            <a:srgbClr val="1B2838">
              <a:alpha val="70000"/>
            </a:srgbClr>
          </a:solidFill>
          <a:ln w="9525">
            <a:solidFill>
              <a:srgbClr val="00BCD4">
                <a:alpha val="5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59528" y="2366010"/>
            <a:ext cx="767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ST Queue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0652" y="2569845"/>
            <a:ext cx="13856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MOVOUT → DRAM 写请求</a:t>
            </a:r>
          </a:p>
        </p:txBody>
      </p:sp>
      <p:sp>
        <p:nvSpPr>
          <p:cNvPr id="27" name="Line 27"/>
          <p:cNvSpPr/>
          <p:nvPr/>
        </p:nvSpPr>
        <p:spPr>
          <a:xfrm>
            <a:off x="1428750" y="2762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7620">
            <a:solidFill>
              <a:srgbClr val="4DD0E1">
                <a:alpha val="30000"/>
              </a:srgbClr>
            </a:solidFill>
            <a:custDash>
              <a:ds d="500000" sp="375000"/>
            </a:custDash>
          </a:ln>
        </p:spPr>
      </p:sp>
      <p:sp>
        <p:nvSpPr>
          <p:cNvPr id="28" name="Line 28"/>
          <p:cNvSpPr/>
          <p:nvPr/>
        </p:nvSpPr>
        <p:spPr>
          <a:xfrm>
            <a:off x="3286125" y="2762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2196F3">
                <a:alpha val="60000"/>
              </a:srgbClr>
            </a:solidFill>
          </a:ln>
        </p:spPr>
      </p:sp>
      <p:sp>
        <p:nvSpPr>
          <p:cNvPr id="29" name="Polygon 29"/>
          <p:cNvSpPr/>
          <p:nvPr/>
        </p:nvSpPr>
        <p:spPr>
          <a:xfrm>
            <a:off x="3248025" y="2895600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  <a:close/>
              </a:path>
            </a:pathLst>
          </a:custGeom>
          <a:solidFill>
            <a:srgbClr val="2196F3">
              <a:alpha val="50000"/>
            </a:srgbClr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5143500" y="2762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7620">
            <a:solidFill>
              <a:srgbClr val="00BCD4">
                <a:alpha val="30000"/>
              </a:srgbClr>
            </a:solidFill>
            <a:custDash>
              <a:ds d="500000" sp="375000"/>
            </a:custDash>
          </a:ln>
        </p:spPr>
      </p:sp>
      <p:sp>
        <p:nvSpPr>
          <p:cNvPr id="31" name="Rectangle 31"/>
          <p:cNvSpPr/>
          <p:nvPr/>
        </p:nvSpPr>
        <p:spPr>
          <a:xfrm>
            <a:off x="2428875" y="3000375"/>
            <a:ext cx="3429000" cy="381000"/>
          </a:xfrm>
          <a:prstGeom prst="roundRect">
            <a:avLst>
              <a:gd name="adj" fmla="val 7500"/>
            </a:avLst>
          </a:prstGeom>
          <a:solidFill>
            <a:srgbClr val="1B2838">
              <a:alpha val="50000"/>
            </a:srgbClr>
          </a:solidFill>
          <a:ln w="7620">
            <a:solidFill>
              <a:srgbClr val="2196F3">
                <a:alpha val="40000"/>
              </a:srgbClr>
            </a:solidFill>
            <a:custDash>
              <a:ds d="500000" sp="375000"/>
            </a:custDash>
          </a:ln>
        </p:spPr>
      </p:sp>
      <p:sp>
        <p:nvSpPr>
          <p:cNvPr id="32" name="TextBox 32"/>
          <p:cNvSpPr txBox="1"/>
          <p:nvPr/>
        </p:nvSpPr>
        <p:spPr>
          <a:xfrm>
            <a:off x="3448955" y="3125152"/>
            <a:ext cx="13888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7D8B"/>
                </a:solidFill>
                <a:latin typeface="Segoe UI"/>
                <a:ea typeface="Microsoft YaHei"/>
                <a:cs typeface="Segoe UI"/>
              </a:rPr>
              <a:t>按 opcode 类型分发 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2196F3">
                <a:alpha val="6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2196F3">
              <a:alpha val="1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96148" y="3709035"/>
            <a:ext cx="10652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Cube Pipeline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666" y="4030028"/>
            <a:ext cx="13345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FF1"/>
                </a:solidFill>
                <a:latin typeface="Segoe UI"/>
                <a:ea typeface="Microsoft YaHei"/>
                <a:cs typeface="Segoe UI"/>
              </a:rPr>
              <a:t>脉动阵列 (Systolic)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6666" y="4249102"/>
            <a:ext cx="11308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多发射 (深度=H)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6666" y="4468178"/>
            <a:ext cx="10990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16×16×16 基本块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7238" y="4684395"/>
            <a:ext cx="10080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GEMM / PRELOAD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428875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00BCD4">
                <a:alpha val="60000"/>
              </a:srgb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2428875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0180" y="3709035"/>
            <a:ext cx="1251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Vector Pipeline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614041" y="4030028"/>
            <a:ext cx="11342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ECEFF1"/>
                </a:solidFill>
                <a:latin typeface="Segoe UI"/>
                <a:ea typeface="Segoe UI"/>
                <a:cs typeface="Segoe UI"/>
              </a:rPr>
              <a:t>SIMD (2048-bit)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614041" y="4249102"/>
            <a:ext cx="9153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单发射 (阻塞)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614041" y="4468178"/>
            <a:ext cx="9515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128 FP16 / 拍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14612" y="4684395"/>
            <a:ext cx="12704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ADD/MUL/DIV/EXP...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286250" y="3619500"/>
            <a:ext cx="1714500" cy="1238250"/>
          </a:xfrm>
          <a:prstGeom prst="roundRect">
            <a:avLst>
              <a:gd name="adj" fmla="val 3077"/>
            </a:avLst>
          </a:prstGeom>
          <a:solidFill>
            <a:srgbClr val="1B2838">
              <a:alpha val="70000"/>
            </a:srgbClr>
          </a:solidFill>
          <a:ln w="11430">
            <a:solidFill>
              <a:srgbClr val="4DD0E1">
                <a:alpha val="6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286250" y="3619500"/>
            <a:ext cx="1714500" cy="323850"/>
          </a:xfrm>
          <a:prstGeom prst="roundRect">
            <a:avLst>
              <a:gd name="adj" fmla="val 11765"/>
            </a:avLst>
          </a:prstGeom>
          <a:solidFill>
            <a:srgbClr val="4DD0E1">
              <a:alpha val="15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538929" y="3709035"/>
            <a:ext cx="12091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Scalar Pipeline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71416" y="4030028"/>
            <a:ext cx="7499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FF1"/>
                </a:solidFill>
                <a:latin typeface="Segoe UI"/>
                <a:ea typeface="Microsoft YaHei"/>
                <a:cs typeface="Segoe UI"/>
              </a:rPr>
              <a:t>逐元素 ALU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71416" y="42491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A4AE"/>
                </a:solidFill>
                <a:latin typeface="Segoe UI"/>
                <a:ea typeface="Microsoft YaHei"/>
                <a:cs typeface="Segoe UI"/>
              </a:rPr>
              <a:t>严格单发射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71416" y="4468178"/>
            <a:ext cx="11768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0A4AE"/>
                </a:solidFill>
                <a:latin typeface="Segoe UI"/>
                <a:ea typeface="Segoe UI"/>
                <a:cs typeface="Segoe UI"/>
              </a:rPr>
              <a:t>compute_size = 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471988" y="4684395"/>
            <a:ext cx="14369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DD0E1"/>
                </a:solidFill>
                <a:latin typeface="Consolas"/>
                <a:ea typeface="Consolas"/>
                <a:cs typeface="Consolas"/>
              </a:rPr>
              <a:t>ADD/SUB/MUL/DIV/SQRT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6659880" y="1362075"/>
            <a:ext cx="4823669" cy="3511486"/>
            <a:chOff x="6659880" y="1362075"/>
            <a:chExt cx="4823669" cy="3511486"/>
          </a:xfrm>
        </p:grpSpPr>
        <p:sp>
          <p:nvSpPr>
            <p:cNvPr id="54" name="TextBox 54"/>
            <p:cNvSpPr txBox="1"/>
            <p:nvPr/>
          </p:nvSpPr>
          <p:spPr>
            <a:xfrm>
              <a:off x="6659880" y="1362075"/>
              <a:ext cx="1471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SPAD 地址空间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67500" y="1714500"/>
              <a:ext cx="4762500" cy="762000"/>
            </a:xfrm>
            <a:prstGeom prst="roundRect">
              <a:avLst>
                <a:gd name="adj" fmla="val 5000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2196F3">
                  <a:alpha val="5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6392" y="1854518"/>
              <a:ext cx="2227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SPAD_BASE = 0x10000000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47535" y="2145506"/>
              <a:ext cx="2883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通用 SPAD 256KB/核 存储输入/中间数据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67500" y="2619375"/>
              <a:ext cx="4762500" cy="762000"/>
            </a:xfrm>
            <a:prstGeom prst="roundRect">
              <a:avLst>
                <a:gd name="adj" fmla="val 5000"/>
              </a:avLst>
            </a:prstGeom>
            <a:solidFill>
              <a:srgbClr val="1B2838">
                <a:alpha val="70000"/>
              </a:srgbClr>
            </a:solidFill>
            <a:ln w="9525">
              <a:solidFill>
                <a:srgbClr val="4DD0E1">
                  <a:alpha val="50000"/>
                </a:srgbClr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6392" y="2759392"/>
              <a:ext cx="290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ACCUM_SPAD_BASE = 0x20000000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47535" y="3050381"/>
              <a:ext cx="2779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累加器 SPAD 256KB/核 GEMM 输出专用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9880" y="36480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双缓冲机制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67500" y="4000500"/>
              <a:ext cx="2286000" cy="857250"/>
            </a:xfrm>
            <a:prstGeom prst="roundRect">
              <a:avLst>
                <a:gd name="adj" fmla="val 4444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22980" y="4159568"/>
              <a:ext cx="775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Buffer 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2980" y="4407218"/>
              <a:ext cx="775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Buffer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58485" y="46682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0A4AE"/>
                  </a:solidFill>
                  <a:latin typeface="Segoe UI"/>
                  <a:ea typeface="Microsoft YaHei"/>
                  <a:cs typeface="Segoe UI"/>
                </a:rPr>
                <a:t>交替使用 · 乒乓操作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44000" y="4000500"/>
              <a:ext cx="2286000" cy="857250"/>
            </a:xfrm>
            <a:prstGeom prst="roundRect">
              <a:avLst>
                <a:gd name="adj" fmla="val 4444"/>
              </a:avLst>
            </a:prstGeom>
            <a:solidFill>
              <a:srgbClr val="1B2838">
                <a:alpha val="6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14536" y="4159568"/>
              <a:ext cx="1944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MOVIN: base_addr = 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90450" y="4407218"/>
              <a:ext cx="2393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MOVOUT: src_from_accum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30397" y="466820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0A4AE"/>
                  </a:solidFill>
                  <a:latin typeface="Segoe UI"/>
                  <a:ea typeface="Segoe UI"/>
                  <a:cs typeface="Segoe UI"/>
                </a:rPr>
                <a:t>last_inst = true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64642" y="5140642"/>
            <a:ext cx="6660490" cy="1012889"/>
            <a:chOff x="564642" y="5140642"/>
            <a:chExt cx="6660490" cy="1012889"/>
          </a:xfrm>
        </p:grpSpPr>
        <p:sp>
          <p:nvSpPr>
            <p:cNvPr id="71" name="TextBox 71"/>
            <p:cNvSpPr txBox="1"/>
            <p:nvPr/>
          </p:nvSpPr>
          <p:spPr>
            <a:xfrm>
              <a:off x="564642" y="5140642"/>
              <a:ext cx="3140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7D8B"/>
                  </a:solidFill>
                  <a:latin typeface="Consolas"/>
                  <a:ea typeface="Microsoft YaHei"/>
                  <a:cs typeface="Consolas"/>
                </a:rPr>
                <a:t>SystolicWS::cycle() 每周期执行：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65404" y="5442585"/>
              <a:ext cx="665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1. finish_compute_pipeline() 2. finish_vector_pipeline() 3. finish_scalar_pipeline()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5404" y="5680710"/>
              <a:ext cx="5553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4. handle_ld_inst_queue() 5. EX 指令发射 (按 opcode 分发到对应流水线)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5404" y="59188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6. handle_st_inst_queue() 7. 统计更新 + core_cycle++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1524000"/>
            <a:ext cx="12192000" cy="4581525"/>
            <a:chOff x="0" y="1524000"/>
            <a:chExt cx="12192000" cy="4581525"/>
          </a:xfrm>
        </p:grpSpPr>
        <p:sp>
          <p:nvSpPr>
            <p:cNvPr id="3" name="Line 3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1B2838">
                  <a:alpha val="20000"/>
                </a:srgb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3212" y="182880"/>
            <a:ext cx="848113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CEFF1"/>
                </a:solidFill>
                <a:latin typeface="Arial"/>
                <a:ea typeface="Microsoft YaHei"/>
                <a:cs typeface="Arial"/>
              </a:rPr>
              <a:t>基础算子：GEMM · Vector · Scalar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723900"/>
            <a:ext cx="762000" cy="19050"/>
          </a:xfrm>
          <a:prstGeom prst="rect">
            <a:avLst/>
          </a:prstGeom>
          <a:solidFill>
            <a:srgbClr val="00BCD4">
              <a:alpha val="7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3880" y="866775"/>
            <a:ext cx="64333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0A4AE"/>
                </a:solidFill>
                <a:latin typeface="Arial"/>
                <a:ea typeface="Microsoft YaHei"/>
                <a:cs typeface="Arial"/>
              </a:rPr>
              <a:t>三类基础计算算子分别映射到 Cube / Vector / Scalar 三条物理流水线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381000" y="1285875"/>
            <a:ext cx="11997941" cy="4572000"/>
            <a:chOff x="381000" y="1285875"/>
            <a:chExt cx="11997941" cy="4572000"/>
          </a:xfrm>
        </p:grpSpPr>
        <p:sp>
          <p:nvSpPr>
            <p:cNvPr id="11" name="Rectangle 11"/>
            <p:cNvSpPr/>
            <p:nvPr/>
          </p:nvSpPr>
          <p:spPr>
            <a:xfrm>
              <a:off x="381000" y="1285875"/>
              <a:ext cx="11430000" cy="419100"/>
            </a:xfrm>
            <a:prstGeom prst="roundRect">
              <a:avLst>
                <a:gd name="adj" fmla="val 6818"/>
              </a:avLst>
            </a:prstGeom>
            <a:solidFill>
              <a:srgbClr val="1B2838">
                <a:alpha val="80000"/>
              </a:srgbClr>
            </a:solidFill>
            <a:ln w="9525">
              <a:solidFill>
                <a:srgbClr val="26323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5642" y="1416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CEFF1"/>
                  </a:solidFill>
                  <a:latin typeface="Consolas"/>
                  <a:ea typeface="Microsoft YaHei"/>
                  <a:cs typeface="Consolas"/>
                </a:rPr>
                <a:t>特性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1142" y="1416368"/>
              <a:ext cx="123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GEMM (Cube)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70142" y="1416368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Vector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8142" y="141636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763000" y="1285875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7620">
              <a:solidFill>
                <a:srgbClr val="263238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" y="17049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5261" y="1798796"/>
              <a:ext cx="417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指令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1904" y="1823085"/>
              <a:ext cx="1830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GEMM_PRELOAD, GEMM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666" y="1763078"/>
              <a:ext cx="2340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ADD, MUL, MAC, DIV, SQRT, EXP,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666" y="1944052"/>
              <a:ext cx="2594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BCD4"/>
                  </a:solidFill>
                  <a:latin typeface="Consolas"/>
                  <a:ea typeface="Consolas"/>
                  <a:cs typeface="Consolas"/>
                </a:rPr>
                <a:t>GELU, ADDTREE, COMP, PIPE_BARRIER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19666" y="1763078"/>
              <a:ext cx="28408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SCALAR_ADD, SCALAR_SUB, SCALAR_MUL,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19666" y="1944052"/>
              <a:ext cx="1855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SCALAR_DIV, SCALAR_SQRT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22002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5261" y="22940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硬件单元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41142" y="2302192"/>
              <a:ext cx="22777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脉动阵列 (Systolic Array)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142" y="2302192"/>
              <a:ext cx="2112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Vector SIMD (2048-bit)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8142" y="2302192"/>
              <a:ext cx="945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Scalar ALU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26955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261" y="2789396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并行度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1142" y="279749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多发射（深度 = core_height）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142" y="27974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单发射（前条未完成则阻塞）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142" y="2797492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800"/>
                  </a:solidFill>
                  <a:latin typeface="Segoe UI"/>
                  <a:ea typeface="Microsoft YaHei"/>
                  <a:cs typeface="Segoe UI"/>
                </a:rPr>
                <a:t>严格单发射（pipeline 仅 1 条）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31908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5261" y="32846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延迟模型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2666" y="3325178"/>
              <a:ext cx="1881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1+(M+N-2)+max(blocks, 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317081"/>
              <a:ext cx="1609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0A4AE"/>
                  </a:solidFill>
                  <a:latin typeface="Consolas"/>
                  <a:ea typeface="Consolas"/>
                  <a:cs typeface="Consolas"/>
                </a:rPr>
                <a:t>vec_op_iter × latency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19285" y="3317081"/>
              <a:ext cx="1116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0A4AE"/>
                  </a:solidFill>
                  <a:latin typeface="Consolas"/>
                  <a:ea typeface="Microsoft YaHei"/>
                  <a:cs typeface="Consolas"/>
                </a:rPr>
                <a:t>固定 1-4 cycles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36861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5261" y="3779996"/>
              <a:ext cx="1333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compute_size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41142" y="3788092"/>
              <a:ext cx="199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tile_m × tile_k × tile_n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0142" y="3788092"/>
              <a:ext cx="1463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0BCD4"/>
                  </a:solidFill>
                  <a:latin typeface="Consolas"/>
                  <a:ea typeface="Microsoft YaHei"/>
                  <a:cs typeface="Consolas"/>
                </a:rPr>
                <a:t>U × U 或向量宽度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142" y="37880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DD0E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" y="4181475"/>
              <a:ext cx="11430000" cy="495300"/>
            </a:xfrm>
            <a:prstGeom prst="rect">
              <a:avLst/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5261" y="4275296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基本块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41142" y="4283392"/>
              <a:ext cx="1031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196F3"/>
                  </a:solidFill>
                  <a:latin typeface="Consolas"/>
                  <a:ea typeface="Consolas"/>
                  <a:cs typeface="Consolas"/>
                </a:rPr>
                <a:t>16 × 16 × 16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0142" y="4283392"/>
              <a:ext cx="1223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128 FP16 / 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8142" y="4283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1 元素 / 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1000" y="4676775"/>
              <a:ext cx="11430000" cy="495300"/>
            </a:xfrm>
            <a:prstGeom prst="rect">
              <a:avLst/>
            </a:prstGeom>
            <a:solidFill>
              <a:srgbClr val="1B2838">
                <a:alpha val="35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5261" y="4770596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典型用途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41142" y="4778692"/>
              <a:ext cx="1801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矩阵乘法、Gram 矩阵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70142" y="477869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逐元素运算、激活函数、同步屏障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18142" y="4778692"/>
              <a:ext cx="2860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对角线元素操作（Cholesky/LDL）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81000" y="5172075"/>
              <a:ext cx="11430000" cy="495300"/>
            </a:xfrm>
            <a:prstGeom prst="roundRect">
              <a:avLst>
                <a:gd name="adj" fmla="val 5769"/>
              </a:avLst>
            </a:prstGeom>
            <a:solidFill>
              <a:srgbClr val="0D1B2A">
                <a:alpha val="50000"/>
              </a:srgbClr>
            </a:solidFill>
            <a:ln w="4762">
              <a:solidFill>
                <a:srgbClr val="263238">
                  <a:alpha val="15000"/>
                </a:srgb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5261" y="5265896"/>
              <a:ext cx="972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CEFF1"/>
                  </a:solidFill>
                  <a:latin typeface="Segoe UI"/>
                  <a:ea typeface="Microsoft YaHei"/>
                  <a:cs typeface="Segoe UI"/>
                </a:rPr>
                <a:t>SPAD 地址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041142" y="5273992"/>
              <a:ext cx="2420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ACCUM_SPAD (0x20000000)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0142" y="5273992"/>
              <a:ext cx="1742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SPAD (0x10000000)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18142" y="5273992"/>
              <a:ext cx="1742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CEFF1"/>
                  </a:solidFill>
                  <a:latin typeface="Segoe UI"/>
                  <a:ea typeface="Segoe UI"/>
                  <a:cs typeface="Segoe UI"/>
                </a:rPr>
                <a:t>SPAD (0x10000000)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5857875"/>
            <a:ext cx="11430000" cy="342900"/>
            <a:chOff x="381000" y="5857875"/>
            <a:chExt cx="11430000" cy="342900"/>
          </a:xfrm>
        </p:grpSpPr>
        <p:sp>
          <p:nvSpPr>
            <p:cNvPr id="62" name="Rectangle 62"/>
            <p:cNvSpPr/>
            <p:nvPr/>
          </p:nvSpPr>
          <p:spPr>
            <a:xfrm>
              <a:off x="381000" y="5857875"/>
              <a:ext cx="11430000" cy="342900"/>
            </a:xfrm>
            <a:prstGeom prst="roundRect">
              <a:avLst>
                <a:gd name="adj" fmla="val 5556"/>
              </a:avLst>
            </a:prstGeom>
            <a:solidFill>
              <a:srgbClr val="1B2838">
                <a:alpha val="4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466363" y="5965031"/>
              <a:ext cx="7259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07D8B"/>
                  </a:solidFill>
                  <a:latin typeface="Segoe UI"/>
                  <a:ea typeface="Microsoft YaHei"/>
                  <a:cs typeface="Segoe UI"/>
                </a:rPr>
                <a:t>数据搬运流程：MOVIN: DRAM → SPAD | 计算：SPAD → Pipeline → SPAD/ACCUM | MOVOUT: SPAD → DRAM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368735" y="6506528"/>
            <a:ext cx="2570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07D8B">
                    <a:alphaMod val="50000"/>
                  </a:srgbClr>
                </a:solidFill>
                <a:latin typeface="Consolas"/>
                <a:ea typeface="Consolas"/>
                <a:cs typeface="Consolas"/>
              </a:rPr>
              <a:t>P07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/>
                </a:solidFill>
                <a:prstDash val="solid"/>
              </a14:hiddenLine>
            </a:ext>
          </a:ex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>
                    <a:alpha val="0"/>
                  </a:srgbClr>
                </a:solidFill>
                <a:prstDash val="solid"/>
              </a14:hiddenLine>
            </a:ext>
          </a:extLst>
        </p:spPr>
      </p:sp>
      <p:sp>
        <p:nvSpPr>
          <p:cNvPr id="4" name="Shape 2"/>
          <p:cNvSpPr/>
          <p:nvPr/>
        </p:nvSpPr>
        <p:spPr>
          <a:xfrm>
            <a:off x="91440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" y="310896"/>
            <a:ext cx="118872" cy="384048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4048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第三章 仿真环境与底层平台搭建</a:t>
            </a:r>
            <a:endParaRPr lang="en-US" sz="2800" dirty="0">
              <a:solidFill>
                <a:srgbClr val="0B1F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2100" dirty="0">
              <a:solidFill>
                <a:srgbClr val="0E749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6446520"/>
            <a:ext cx="11356848" cy="0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508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章节目录结构</a:t>
            </a:r>
            <a:endParaRPr lang="en-US" sz="1900" dirty="0">
              <a:solidFill>
                <a:srgbClr val="0E749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1901952"/>
            <a:ext cx="4800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1122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1700" dirty="0">
              <a:solidFill>
                <a:srgbClr val="0E749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53312" y="206654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3.1 仿真</a:t>
            </a:r>
            <a:r>
              <a:rPr lang="zh-CN" alt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</a:t>
            </a:r>
            <a:r>
              <a:rPr 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架构</a:t>
            </a:r>
            <a:r>
              <a:rPr lang="zh-CN" alt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及硬件架构</a:t>
            </a:r>
          </a:p>
        </p:txBody>
      </p:sp>
      <p:sp>
        <p:nvSpPr>
          <p:cNvPr id="21" name="Text 19"/>
          <p:cNvSpPr/>
          <p:nvPr/>
        </p:nvSpPr>
        <p:spPr>
          <a:xfrm>
            <a:off x="1352550" y="2322830"/>
            <a:ext cx="3749675" cy="3683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000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三路验证</a:t>
            </a:r>
            <a:r>
              <a:rPr lang="en-US" sz="1000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/ 硬件建模 / 多时钟域周期模型 / 指令集体系</a:t>
            </a:r>
          </a:p>
        </p:txBody>
      </p:sp>
      <p:sp>
        <p:nvSpPr>
          <p:cNvPr id="22" name="Shape 20"/>
          <p:cNvSpPr/>
          <p:nvPr/>
        </p:nvSpPr>
        <p:spPr>
          <a:xfrm>
            <a:off x="621792" y="3035808"/>
            <a:ext cx="4800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2461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1700" dirty="0">
              <a:solidFill>
                <a:srgbClr val="0E749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3312" y="32004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3.2 仿真运行流程</a:t>
            </a:r>
            <a:endParaRPr lang="en-US" sz="1700" dirty="0">
              <a:solidFill>
                <a:srgbClr val="0B1F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53312" y="3456051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算子性能指标体系 / 周期精度与流水线可视化</a:t>
            </a:r>
            <a:endParaRPr lang="en-US" sz="1000" dirty="0">
              <a:solidFill>
                <a:srgbClr val="0E749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" y="4169664"/>
            <a:ext cx="48006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3799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1700" dirty="0">
              <a:solidFill>
                <a:srgbClr val="0E749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53312" y="433425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3.3 仿真器验证方法</a:t>
            </a:r>
            <a:endParaRPr lang="en-US" sz="1700" dirty="0">
              <a:solidFill>
                <a:srgbClr val="0B1F3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52677" y="4626737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指令集数值正确性验证 / 通用算子黑盒评估</a:t>
            </a:r>
          </a:p>
        </p:txBody>
      </p:sp>
      <p:sp>
        <p:nvSpPr>
          <p:cNvPr id="30" name="Shape 28"/>
          <p:cNvSpPr/>
          <p:nvPr/>
        </p:nvSpPr>
        <p:spPr>
          <a:xfrm>
            <a:off x="5806440" y="2926080"/>
            <a:ext cx="214884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52744" y="3054096"/>
            <a:ext cx="18562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通信算法 / 候选算子</a:t>
            </a:r>
            <a:endParaRPr lang="en-US" sz="1300" dirty="0">
              <a:solidFill>
                <a:srgbClr val="0B1F33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52744" y="3401568"/>
            <a:ext cx="1856232" cy="14630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矩阵求逆、检测、预编码等</a:t>
            </a:r>
            <a:endParaRPr lang="en-US" sz="1000" dirty="0">
              <a:solidFill>
                <a:srgbClr val="0B1F33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23960" y="1627632"/>
            <a:ext cx="2514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0264" y="1755648"/>
            <a:ext cx="22219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Python 通信链路</a:t>
            </a:r>
            <a:endParaRPr lang="en-US" sz="1300" dirty="0">
              <a:solidFill>
                <a:srgbClr val="0E749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70264" y="2103120"/>
            <a:ext cx="2221992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 / 收敛性 / 数值稳定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823960" y="2944368"/>
            <a:ext cx="2514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0264" y="3072384"/>
            <a:ext cx="22219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静态复杂度分析</a:t>
            </a:r>
            <a:endParaRPr lang="en-US" sz="1300" dirty="0">
              <a:solidFill>
                <a:srgbClr val="0E749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8970264" y="3419856"/>
            <a:ext cx="2221992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FLOPs / Vector / Scalar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955280" y="3282696"/>
            <a:ext cx="868680" cy="27432"/>
          </a:xfrm>
          <a:prstGeom prst="line">
            <a:avLst/>
          </a:prstGeom>
          <a:noFill/>
          <a:ln w="2032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23960" y="4261104"/>
            <a:ext cx="2514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0264" y="4389120"/>
            <a:ext cx="22219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C++ 时序仿真器</a:t>
            </a:r>
            <a:endParaRPr lang="en-US" sz="1300" dirty="0">
              <a:solidFill>
                <a:srgbClr val="0E7490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8970264" y="4736592"/>
            <a:ext cx="2221992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Tile / Instruction / Cycle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955280" y="3282696"/>
            <a:ext cx="868680" cy="1344168"/>
          </a:xfrm>
          <a:prstGeom prst="line">
            <a:avLst/>
          </a:prstGeom>
          <a:noFill/>
          <a:ln w="2032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823960" y="5440680"/>
            <a:ext cx="2514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70264" y="5568696"/>
            <a:ext cx="22219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综合评估结果</a:t>
            </a:r>
            <a:endParaRPr lang="en-US" sz="1300" dirty="0">
              <a:solidFill>
                <a:srgbClr val="0B1F33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8970264" y="5916168"/>
            <a:ext cx="2221992" cy="914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正确性 + 复杂度 + 周期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076688" y="2359152"/>
            <a:ext cx="9144" cy="3081528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076688" y="3675888"/>
            <a:ext cx="9144" cy="1764792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076688" y="4992624"/>
            <a:ext cx="9144" cy="448056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75488" y="6245352"/>
            <a:ext cx="11292840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6373368"/>
            <a:ext cx="292608" cy="45720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6318504"/>
            <a:ext cx="10332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第三章从数值、复杂度、时序三个维度建立通信算子的统一仿真评估入口。</a:t>
            </a:r>
            <a:endParaRPr lang="en-US" sz="1250" dirty="0">
              <a:solidFill>
                <a:srgbClr val="475569"/>
              </a:solidFill>
            </a:endParaRPr>
          </a:p>
        </p:txBody>
      </p:sp>
      <p:cxnSp>
        <p:nvCxnSpPr>
          <p:cNvPr id="54" name="直接箭头连接符 53"/>
          <p:cNvCxnSpPr>
            <a:stCxn id="44" idx="0"/>
            <a:endCxn id="33" idx="1"/>
          </p:cNvCxnSpPr>
          <p:nvPr/>
        </p:nvCxnSpPr>
        <p:spPr>
          <a:xfrm flipV="1">
            <a:off x="7955280" y="1993265"/>
            <a:ext cx="868680" cy="128968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/>
                </a:solidFill>
                <a:prstDash val="solid"/>
              </a14:hiddenLine>
            </a:ext>
          </a:ex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>
                    <a:alpha val="0"/>
                  </a:srgbClr>
                </a:solidFill>
                <a:prstDash val="solid"/>
              </a14:hiddenLine>
            </a:ext>
          </a:extLst>
        </p:spPr>
      </p:sp>
      <p:sp>
        <p:nvSpPr>
          <p:cNvPr id="4" name="Shape 2"/>
          <p:cNvSpPr/>
          <p:nvPr/>
        </p:nvSpPr>
        <p:spPr>
          <a:xfrm>
            <a:off x="91440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" y="310896"/>
            <a:ext cx="118872" cy="384048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4048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7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仿真总架构：三条链路交叉评估</a:t>
            </a:r>
            <a:endParaRPr lang="en-US" sz="2800" dirty="0">
              <a:solidFill>
                <a:srgbClr val="0B1F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" y="859536"/>
            <a:ext cx="9509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Python 数值链路、静态复杂度链路、C++ 周期级时序链路</a:t>
            </a:r>
            <a:endParaRPr lang="en-US" sz="1550" dirty="0">
              <a:solidFill>
                <a:srgbClr val="0B1F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2100" dirty="0">
              <a:solidFill>
                <a:srgbClr val="0E749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6446520"/>
            <a:ext cx="11356848" cy="0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43200"/>
            <a:ext cx="2148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871216"/>
            <a:ext cx="18562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候选通信算子</a:t>
            </a:r>
            <a:endParaRPr lang="en-US" sz="1450" dirty="0">
              <a:solidFill>
                <a:srgbClr val="0B1F3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6384" y="3218688"/>
            <a:ext cx="1856232" cy="30175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矩阵求逆 / 检测 / 预编码 / 新增 Operation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46120" y="1325880"/>
            <a:ext cx="2971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1453896"/>
            <a:ext cx="26791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Python 通信链路</a:t>
            </a:r>
            <a:endParaRPr lang="en-US" sz="1450" dirty="0">
              <a:solidFill>
                <a:srgbClr val="0E749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92424" y="1801368"/>
            <a:ext cx="267919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验证频谱效率 SE、收敛性与数值稳定性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40880" y="1325880"/>
            <a:ext cx="2834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1453896"/>
            <a:ext cx="25420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通信性能指标</a:t>
            </a:r>
            <a:endParaRPr lang="en-US" sz="1400" dirty="0">
              <a:solidFill>
                <a:srgbClr val="0B1F3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87184" y="1801368"/>
            <a:ext cx="254203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SE 曲线 / 误差 / 稳定性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1810512"/>
            <a:ext cx="822960" cy="0"/>
          </a:xfrm>
          <a:prstGeom prst="line">
            <a:avLst/>
          </a:prstGeom>
          <a:noFill/>
          <a:ln w="1905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46120" y="2743200"/>
            <a:ext cx="2971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2871216"/>
            <a:ext cx="26791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静态复杂度分析</a:t>
            </a:r>
            <a:endParaRPr lang="en-US" sz="1450" dirty="0">
              <a:solidFill>
                <a:srgbClr val="0E749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92424" y="3218688"/>
            <a:ext cx="267919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直接从指令序列统计 FLOPs、矩阵计算量、Vector/Scalar 操作量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040880" y="2743200"/>
            <a:ext cx="2834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87184" y="2871216"/>
            <a:ext cx="25420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理论工作量指标</a:t>
            </a:r>
            <a:endParaRPr lang="en-US" sz="1400" dirty="0">
              <a:solidFill>
                <a:srgbClr val="0B1F33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87184" y="3218688"/>
            <a:ext cx="254203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计算量拆分 / 访存规模估计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88920" y="3172968"/>
            <a:ext cx="457200" cy="54864"/>
          </a:xfrm>
          <a:prstGeom prst="line">
            <a:avLst/>
          </a:prstGeom>
          <a:noFill/>
          <a:ln w="1905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7920" y="3227832"/>
            <a:ext cx="822960" cy="0"/>
          </a:xfrm>
          <a:prstGeom prst="line">
            <a:avLst/>
          </a:prstGeom>
          <a:noFill/>
          <a:ln w="1905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246120" y="4160520"/>
            <a:ext cx="29718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92424" y="4288536"/>
            <a:ext cx="26791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C++ 时序仿真器</a:t>
            </a:r>
            <a:endParaRPr lang="en-US" sz="1450" dirty="0">
              <a:solidFill>
                <a:srgbClr val="0E7490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92424" y="4636008"/>
            <a:ext cx="267919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将算子展开为 Tile / Instruction，在类 Ascend NPU 上做周期级仿真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040880" y="4160520"/>
            <a:ext cx="28346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4288536"/>
            <a:ext cx="25420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微架构时序指标</a:t>
            </a:r>
            <a:endParaRPr lang="en-US" sz="1400" dirty="0">
              <a:solidFill>
                <a:srgbClr val="0B1F3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87184" y="4636008"/>
            <a:ext cx="2542032" cy="3931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finish cycle / trace.csv / 利用率</a:t>
            </a:r>
            <a:endParaRPr lang="en-US" sz="1050" dirty="0">
              <a:solidFill>
                <a:srgbClr val="0B1F33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88920" y="3172968"/>
            <a:ext cx="457200" cy="1472184"/>
          </a:xfrm>
          <a:prstGeom prst="line">
            <a:avLst/>
          </a:prstGeom>
          <a:noFill/>
          <a:ln w="1905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17920" y="4645152"/>
            <a:ext cx="822960" cy="0"/>
          </a:xfrm>
          <a:prstGeom prst="line">
            <a:avLst/>
          </a:prstGeom>
          <a:noFill/>
          <a:ln w="1905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67290" y="2743200"/>
            <a:ext cx="19202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1204" y="2871216"/>
            <a:ext cx="16276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统一比较</a:t>
            </a:r>
            <a:endParaRPr lang="en-US" sz="1450" dirty="0">
              <a:solidFill>
                <a:srgbClr val="0B1F33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141204" y="3218688"/>
            <a:ext cx="1627632" cy="30175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正确性、复杂度、周期共同进入候选方案排序</a:t>
            </a:r>
            <a:endParaRPr lang="en-US" sz="1030" dirty="0">
              <a:solidFill>
                <a:srgbClr val="0B1F33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04672" y="5559552"/>
            <a:ext cx="30632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0976" y="5687568"/>
            <a:ext cx="27706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秒级迭代</a:t>
            </a:r>
            <a:endParaRPr lang="en-US" sz="1250" dirty="0">
              <a:solidFill>
                <a:srgbClr val="0B1F33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1779270" y="5577205"/>
            <a:ext cx="1942465" cy="40703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编译 + 仿真压缩到可用于多轮搜索的反馈尺度</a:t>
            </a:r>
            <a:endParaRPr lang="en-US" sz="930" dirty="0">
              <a:solidFill>
                <a:srgbClr val="0B1F33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53712" y="5559552"/>
            <a:ext cx="30632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0016" y="5687568"/>
            <a:ext cx="27706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全量可审计</a:t>
            </a:r>
            <a:endParaRPr lang="en-US" sz="1250" dirty="0">
              <a:solidFill>
                <a:srgbClr val="0B1F33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33720" y="5601970"/>
            <a:ext cx="1837055" cy="38735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Trace CSV、Timeline、指令计数可反查瓶颈</a:t>
            </a:r>
            <a:endParaRPr lang="en-US" sz="930" dirty="0">
              <a:solidFill>
                <a:srgbClr val="0B1F33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302752" y="5559552"/>
            <a:ext cx="30632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49056" y="5687568"/>
            <a:ext cx="27706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白盒硬件域</a:t>
            </a:r>
            <a:endParaRPr lang="en-US" sz="1250" dirty="0">
              <a:solidFill>
                <a:srgbClr val="0B1F33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9448800" y="5601970"/>
            <a:ext cx="1771015" cy="38671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Core / ICNT / DRAM 三域耦合，暴露访存与流水线空泡</a:t>
            </a:r>
            <a:endParaRPr lang="en-US" sz="930" dirty="0">
              <a:solidFill>
                <a:srgbClr val="0B1F33"/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75488" y="6245352"/>
            <a:ext cx="11292840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6373368"/>
            <a:ext cx="292608" cy="45720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5840" y="6318250"/>
            <a:ext cx="10332720" cy="2228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架构重点：同一候选算子同时接受系统性能、算法复杂度和微架构时序三类证据约束。</a:t>
            </a:r>
            <a:endParaRPr lang="en-US" sz="1250" dirty="0">
              <a:solidFill>
                <a:srgbClr val="475569"/>
              </a:solidFill>
            </a:endParaRPr>
          </a:p>
        </p:txBody>
      </p:sp>
      <p:cxnSp>
        <p:nvCxnSpPr>
          <p:cNvPr id="62" name="直接箭头连接符 61"/>
          <p:cNvCxnSpPr>
            <a:endCxn id="20" idx="1"/>
          </p:cNvCxnSpPr>
          <p:nvPr/>
        </p:nvCxnSpPr>
        <p:spPr>
          <a:xfrm flipV="1">
            <a:off x="2788920" y="1805940"/>
            <a:ext cx="457200" cy="132143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endCxn id="44" idx="1"/>
          </p:cNvCxnSpPr>
          <p:nvPr/>
        </p:nvCxnSpPr>
        <p:spPr>
          <a:xfrm>
            <a:off x="9902825" y="1810385"/>
            <a:ext cx="164465" cy="136715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V="1">
            <a:off x="9875520" y="3173095"/>
            <a:ext cx="191770" cy="152717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1" idx="3"/>
          </p:cNvCxnSpPr>
          <p:nvPr/>
        </p:nvCxnSpPr>
        <p:spPr>
          <a:xfrm flipV="1">
            <a:off x="9875520" y="3173095"/>
            <a:ext cx="191770" cy="5016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81000" y="1092200"/>
            <a:ext cx="5270500" cy="4749800"/>
          </a:xfrm>
          <a:prstGeom prst="rect">
            <a:avLst/>
          </a:prstGeom>
          <a:solidFill>
            <a:srgbClr val="F6FA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444500" y="1155700"/>
            <a:ext cx="5143500" cy="4610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5">
            <a:solidFill>
              <a:srgbClr val="BFD7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73100" y="1409700"/>
            <a:ext cx="457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B1F33"/>
                </a:solidFill>
                <a:latin typeface="Arial" panose="020B0604020202020204" pitchFamily="34" charset="0"/>
                <a:ea typeface="黑体" panose="02010609060101010101" pitchFamily="34" charset="-122"/>
              </a:rPr>
              <a:t>静态复杂度分析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3100" y="1739900"/>
            <a:ext cx="469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六算法 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NPU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操作复杂度对比（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U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为矩阵维度，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L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为 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BRI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迭代层数，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K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为 </a:t>
            </a:r>
            <a:r>
              <a:rPr lang="en-US" altLang="zh-CN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NS </a:t>
            </a:r>
            <a:r>
              <a:rPr lang="zh-CN" altLang="en-US" sz="750" b="1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迭代次数）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2300" y="2159000"/>
          <a:ext cx="48514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算法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总</a:t>
                      </a:r>
                      <a:r>
                        <a:rPr lang="en-US" altLang="zh-CN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FLOPs</a:t>
                      </a:r>
                      <a:endParaRPr lang="zh-CN" altLang="en-US" sz="72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关键流水线瓶颈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Scalar</a:t>
                      </a:r>
                      <a:r>
                        <a:rPr lang="zh-CN" altLang="en-US" sz="72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串行指令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D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Cholesky-NoBlock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4/3 U³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Scalar SQRT/DIV
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逐列串行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U × SQRT +
O(U²) × DIV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Cholesky-Block
(B=2)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4/3 U³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Scalar SQRT/DIV +
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微小 </a:t>
                      </a:r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GEMM 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碎片化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l-PL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U/2 × SQRT +
O(U²/B) × DIV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LDL-NoBlock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5/3 U³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Vector MUL 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为主，
无 </a:t>
                      </a:r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SQRT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0 SQRT</a:t>
                      </a:r>
                      <a:r>
                        <a:rPr lang="zh-CN" altLang="es-E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，</a:t>
                      </a:r>
                      <a:r>
                        <a:rPr lang="es-E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O(U²) ×
MUL</a:t>
                      </a:r>
                      <a:r>
                        <a:rPr lang="zh-CN" altLang="es-E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（</a:t>
                      </a:r>
                      <a:r>
                        <a:rPr lang="es-E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Vector</a:t>
                      </a:r>
                      <a:r>
                        <a:rPr lang="zh-CN" altLang="es-E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）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LDL-Block
(B=2, packed)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5/3 U³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Cube GEMM 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粒度
提升至 </a:t>
                      </a:r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16×16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0 SQRT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Block-Richardson
(B=U)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O(LU³)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Cube GEMM 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全部
对齐基本块尺寸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仅预条件器阶段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700" b="1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Newton-Schulz
(K)</a:t>
                      </a:r>
                      <a:endParaRPr lang="zh-CN" altLang="en-US" sz="700" b="1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O(KN³)</a:t>
                      </a:r>
                      <a:endParaRPr lang="zh-CN" altLang="en-US" sz="700" b="0">
                        <a:solidFill>
                          <a:srgbClr val="0B1F33"/>
                        </a:solidFill>
                        <a:latin typeface="Arial" panose="020B0604020202020204" pitchFamily="34" charset="0"/>
                        <a:ea typeface="等线" panose="02010600030101010101" pitchFamily="34" charset="-122"/>
                      </a:endParaRP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每轮 </a:t>
                      </a:r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2× Cube GEMM
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（全矩阵）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无 </a:t>
                      </a:r>
                      <a:r>
                        <a:rPr lang="en-US" altLang="zh-CN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Scalar </a:t>
                      </a:r>
                      <a:r>
                        <a:rPr lang="zh-CN" altLang="en-US" sz="700" b="0">
                          <a:solidFill>
                            <a:srgbClr val="0B1F33"/>
                          </a:solidFill>
                          <a:latin typeface="Arial" panose="020B0604020202020204" pitchFamily="34" charset="0"/>
                          <a:ea typeface="等线" panose="02010600030101010101" pitchFamily="34" charset="-122"/>
                        </a:rPr>
                        <a:t>依赖</a:t>
                      </a:r>
                    </a:p>
                  </a:txBody>
                  <a:tcPr marL="38100" marR="38100" marT="25400" marB="25400">
                    <a:lnL w="5715" cmpd="sng">
                      <a:solidFill>
                        <a:srgbClr val="BFD7E0"/>
                      </a:solidFill>
                    </a:lnL>
                    <a:lnR w="5715" cmpd="sng">
                      <a:solidFill>
                        <a:srgbClr val="BFD7E0"/>
                      </a:solidFill>
                    </a:lnR>
                    <a:lnT w="5715" cmpd="sng">
                      <a:solidFill>
                        <a:srgbClr val="BFD7E0"/>
                      </a:solidFill>
                    </a:lnT>
                    <a:lnB w="5715" cmpd="sng">
                      <a:solidFill>
                        <a:srgbClr val="BFD7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73100" y="5283200"/>
            <a:ext cx="4660900" cy="124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复杂度视角：</a:t>
            </a:r>
            <a:r>
              <a:rPr lang="en-US" altLang="zh-CN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Cholesky </a:t>
            </a:r>
            <a:r>
              <a:rPr lang="zh-CN" altLang="en-US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受 </a:t>
            </a:r>
            <a:r>
              <a:rPr lang="en-US" altLang="zh-CN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Scalar SQRT/DIV </a:t>
            </a:r>
            <a:r>
              <a:rPr lang="zh-CN" altLang="en-US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串行约束；</a:t>
            </a:r>
            <a:r>
              <a:rPr lang="en-US" altLang="zh-CN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LDL/BRI/NS </a:t>
            </a:r>
            <a:r>
              <a:rPr lang="zh-CN" altLang="en-US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更多转向 </a:t>
            </a:r>
            <a:r>
              <a:rPr lang="en-US" altLang="zh-CN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Vector/Cube </a:t>
            </a:r>
            <a:r>
              <a:rPr lang="zh-CN" altLang="en-US" sz="810">
                <a:solidFill>
                  <a:srgbClr val="475569"/>
                </a:solidFill>
                <a:latin typeface="Arial" panose="020B0604020202020204" pitchFamily="34" charset="0"/>
                <a:ea typeface="等线" panose="02010600030101010101" pitchFamily="34" charset="-122"/>
              </a:rPr>
              <a:t>并行。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/>
                </a:solidFill>
                <a:prstDash val="solid"/>
              </a14:hiddenLine>
            </a:ext>
          </a:ex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B"/>
          </a:solidFill>
          <a:ln w="15875">
            <a:noFill/>
            <a:prstDash val="solid"/>
          </a:ln>
          <a:extLst>
            <a:ext uri="{91240B29-F687-4F45-9708-019B960494DF}">
              <a14:hiddenLine xmlns:a14="http://schemas.microsoft.com/office/drawing/2010/main" w="15875">
                <a:solidFill>
                  <a:srgbClr val="D7E5EC">
                    <a:alpha val="0"/>
                  </a:srgbClr>
                </a:solidFill>
                <a:prstDash val="solid"/>
              </a14:hiddenLine>
            </a:ext>
          </a:extLst>
        </p:spPr>
      </p:sp>
      <p:sp>
        <p:nvSpPr>
          <p:cNvPr id="4" name="Shape 2"/>
          <p:cNvSpPr/>
          <p:nvPr/>
        </p:nvSpPr>
        <p:spPr>
          <a:xfrm>
            <a:off x="91440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32588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32004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822960"/>
            <a:ext cx="1920240" cy="411480"/>
          </a:xfrm>
          <a:prstGeom prst="line">
            <a:avLst/>
          </a:prstGeom>
          <a:noFill/>
          <a:ln w="15875">
            <a:solidFill>
              <a:srgbClr val="BFD5E0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" y="310896"/>
            <a:ext cx="118872" cy="384048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4048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仿真器架构：硬件域与周期推进</a:t>
            </a:r>
            <a:endParaRPr lang="en-US" sz="2800" dirty="0">
              <a:solidFill>
                <a:srgbClr val="0B1F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" y="859536"/>
            <a:ext cx="9509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Simulator::cycle() + SystolicWS::cycle() 的代码级周期模型</a:t>
            </a:r>
            <a:endParaRPr lang="en-US" sz="1550" dirty="0">
              <a:solidFill>
                <a:srgbClr val="0B1F3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201400" y="438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2100" dirty="0">
              <a:solidFill>
                <a:srgbClr val="0E749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6446520"/>
            <a:ext cx="11356848" cy="0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4173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硬件模拟层级</a:t>
            </a:r>
            <a:endParaRPr lang="en-US" sz="1600" dirty="0">
              <a:solidFill>
                <a:srgbClr val="0E749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1755648"/>
            <a:ext cx="114300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1883664"/>
            <a:ext cx="8503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DRAM</a:t>
            </a:r>
            <a:endParaRPr lang="en-US" sz="1400" dirty="0">
              <a:solidFill>
                <a:srgbClr val="0B1F3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" y="2231136"/>
            <a:ext cx="850392" cy="1097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片外内存模型</a:t>
            </a:r>
            <a:endParaRPr lang="en-US" sz="950" dirty="0">
              <a:solidFill>
                <a:srgbClr val="0B1F33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48840" y="1755648"/>
            <a:ext cx="141732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1883664"/>
            <a:ext cx="112471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ICNT / NoC</a:t>
            </a:r>
            <a:endParaRPr lang="en-US" sz="1400" dirty="0">
              <a:solidFill>
                <a:srgbClr val="0B1F3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95144" y="2231136"/>
            <a:ext cx="1124712" cy="1097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网络 / 边界请求</a:t>
            </a:r>
            <a:endParaRPr lang="en-US" sz="950" dirty="0">
              <a:solidFill>
                <a:srgbClr val="0B1F33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37360" y="2084832"/>
            <a:ext cx="411480" cy="0"/>
          </a:xfrm>
          <a:prstGeom prst="line">
            <a:avLst/>
          </a:prstGeom>
          <a:noFill/>
          <a:ln w="1651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96512" y="1417320"/>
            <a:ext cx="7680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7150" y="1572895"/>
            <a:ext cx="2926080" cy="30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Core Array</a:t>
            </a:r>
            <a:endParaRPr lang="en-US" sz="1600" dirty="0">
              <a:solidFill>
                <a:srgbClr val="0B1F33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566160" y="2084832"/>
            <a:ext cx="530352" cy="201168"/>
          </a:xfrm>
          <a:prstGeom prst="line">
            <a:avLst/>
          </a:prstGeom>
          <a:noFill/>
          <a:ln w="1651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62272" y="1965960"/>
            <a:ext cx="1700784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2093976"/>
            <a:ext cx="1408176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内存请求队列</a:t>
            </a:r>
          </a:p>
        </p:txBody>
      </p:sp>
      <p:sp>
        <p:nvSpPr>
          <p:cNvPr id="30" name="Text 28"/>
          <p:cNvSpPr/>
          <p:nvPr/>
        </p:nvSpPr>
        <p:spPr>
          <a:xfrm>
            <a:off x="4608576" y="2441448"/>
            <a:ext cx="1408176" cy="914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Core/DRAM 请求边界</a:t>
            </a:r>
            <a:endParaRPr lang="en-US" sz="880" dirty="0">
              <a:solidFill>
                <a:srgbClr val="0B1F33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92240" y="1965960"/>
            <a:ext cx="1700784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8544" y="2093976"/>
            <a:ext cx="1408176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片上</a:t>
            </a:r>
            <a:r>
              <a:rPr lang="en-US" altLang="zh-CN" sz="11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SRAM</a:t>
            </a:r>
          </a:p>
        </p:txBody>
      </p:sp>
      <p:sp>
        <p:nvSpPr>
          <p:cNvPr id="33" name="Text 31"/>
          <p:cNvSpPr/>
          <p:nvPr/>
        </p:nvSpPr>
        <p:spPr>
          <a:xfrm>
            <a:off x="6638544" y="2441448"/>
            <a:ext cx="1408176" cy="914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片上状态与地址有效性</a:t>
            </a:r>
            <a:endParaRPr lang="en-US" sz="880" dirty="0">
              <a:solidFill>
                <a:srgbClr val="0B1F33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522208" y="1965960"/>
            <a:ext cx="1700784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2093976"/>
            <a:ext cx="1408176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LD / EX / ST </a:t>
            </a:r>
            <a:r>
              <a:rPr lang="zh-CN" altLang="en-US" sz="112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指令序列</a:t>
            </a:r>
          </a:p>
        </p:txBody>
      </p:sp>
      <p:sp>
        <p:nvSpPr>
          <p:cNvPr id="36" name="Text 34"/>
          <p:cNvSpPr/>
          <p:nvPr/>
        </p:nvSpPr>
        <p:spPr>
          <a:xfrm>
            <a:off x="8668512" y="2441448"/>
            <a:ext cx="1408176" cy="914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发射顺序与依赖等待</a:t>
            </a:r>
            <a:endParaRPr lang="en-US" sz="850" dirty="0">
              <a:solidFill>
                <a:srgbClr val="0B1F33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63056" y="2295144"/>
            <a:ext cx="329184" cy="0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193024" y="2295144"/>
            <a:ext cx="329184" cy="0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47488" y="2926080"/>
            <a:ext cx="14630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3054096"/>
            <a:ext cx="11704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Cube</a:t>
            </a:r>
            <a:r>
              <a:rPr lang="zh-CN" alt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</a:t>
            </a:r>
          </a:p>
        </p:txBody>
      </p:sp>
      <p:sp>
        <p:nvSpPr>
          <p:cNvPr id="41" name="Shape 39"/>
          <p:cNvSpPr/>
          <p:nvPr/>
        </p:nvSpPr>
        <p:spPr>
          <a:xfrm>
            <a:off x="7086600" y="2926080"/>
            <a:ext cx="14630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32904" y="3054096"/>
            <a:ext cx="11704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Vector</a:t>
            </a:r>
            <a:r>
              <a:rPr lang="zh-CN" alt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</a:t>
            </a:r>
          </a:p>
        </p:txBody>
      </p:sp>
      <p:sp>
        <p:nvSpPr>
          <p:cNvPr id="43" name="Shape 41"/>
          <p:cNvSpPr/>
          <p:nvPr/>
        </p:nvSpPr>
        <p:spPr>
          <a:xfrm>
            <a:off x="9125712" y="2926080"/>
            <a:ext cx="146304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72016" y="3054096"/>
            <a:ext cx="117043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Scalar</a:t>
            </a:r>
            <a:r>
              <a:rPr lang="zh-CN" alt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单元</a:t>
            </a:r>
          </a:p>
        </p:txBody>
      </p:sp>
      <p:sp>
        <p:nvSpPr>
          <p:cNvPr id="45" name="Text 43"/>
          <p:cNvSpPr/>
          <p:nvPr/>
        </p:nvSpPr>
        <p:spPr>
          <a:xfrm>
            <a:off x="566928" y="406908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多时钟域推进</a:t>
            </a:r>
            <a:endParaRPr lang="en-US" sz="1600" dirty="0">
              <a:solidFill>
                <a:srgbClr val="0E7490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0080" y="4617720"/>
            <a:ext cx="224028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745736"/>
            <a:ext cx="194767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Simulator::cycle()</a:t>
            </a:r>
            <a:endParaRPr lang="en-US" sz="1350" dirty="0">
              <a:solidFill>
                <a:srgbClr val="0B1F33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786384" y="5093208"/>
            <a:ext cx="1947672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</a:rPr>
              <a:t>simulator</a:t>
            </a:r>
            <a:r>
              <a:rPr lang="zh-CN" altLang="en-US" sz="950" dirty="0">
                <a:solidFill>
                  <a:srgbClr val="0B1F33"/>
                </a:solidFill>
              </a:rPr>
              <a:t>类控制全局，打印信息</a:t>
            </a:r>
          </a:p>
        </p:txBody>
      </p:sp>
      <p:sp>
        <p:nvSpPr>
          <p:cNvPr id="49" name="Shape 47"/>
          <p:cNvSpPr/>
          <p:nvPr/>
        </p:nvSpPr>
        <p:spPr>
          <a:xfrm>
            <a:off x="3429000" y="4617720"/>
            <a:ext cx="2286000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75304" y="4745736"/>
            <a:ext cx="1993392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选择某域时钟推进</a:t>
            </a:r>
          </a:p>
        </p:txBody>
      </p:sp>
      <p:sp>
        <p:nvSpPr>
          <p:cNvPr id="51" name="Text 49"/>
          <p:cNvSpPr/>
          <p:nvPr/>
        </p:nvSpPr>
        <p:spPr>
          <a:xfrm>
            <a:off x="3575304" y="5093208"/>
            <a:ext cx="1993392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</a:rPr>
              <a:t>set_mask_cycle()</a:t>
            </a:r>
          </a:p>
        </p:txBody>
      </p:sp>
      <p:sp>
        <p:nvSpPr>
          <p:cNvPr id="52" name="Shape 50"/>
          <p:cNvSpPr/>
          <p:nvPr/>
        </p:nvSpPr>
        <p:spPr>
          <a:xfrm>
            <a:off x="2880360" y="5010912"/>
            <a:ext cx="548640" cy="0"/>
          </a:xfrm>
          <a:prstGeom prst="line">
            <a:avLst/>
          </a:prstGeom>
          <a:noFill/>
          <a:ln w="16510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355080" y="3895598"/>
            <a:ext cx="3950208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1384" y="4023614"/>
            <a:ext cx="365760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CORE Domain</a:t>
            </a:r>
          </a:p>
        </p:txBody>
      </p:sp>
      <p:sp>
        <p:nvSpPr>
          <p:cNvPr id="55" name="Text 53"/>
          <p:cNvSpPr/>
          <p:nvPr/>
        </p:nvSpPr>
        <p:spPr>
          <a:xfrm>
            <a:off x="6501384" y="4243070"/>
            <a:ext cx="365760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Scheduler 发射/回收 Tile；Core Array 推进一拍</a:t>
            </a:r>
            <a:endParaRPr lang="en-US" sz="860" dirty="0">
              <a:solidFill>
                <a:srgbClr val="0B1F33"/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355080" y="4809998"/>
            <a:ext cx="3950208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01384" y="4938014"/>
            <a:ext cx="365760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ICNT Domain</a:t>
            </a:r>
            <a:endParaRPr lang="en-US" sz="1250" dirty="0">
              <a:solidFill>
                <a:srgbClr val="0B1F33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6501384" y="5157470"/>
            <a:ext cx="365760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搬运 Core/DRAM 边界请求；推进网络仲裁</a:t>
            </a:r>
            <a:endParaRPr lang="en-US" sz="860" dirty="0">
              <a:solidFill>
                <a:srgbClr val="0B1F33"/>
              </a:solidFill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715000" y="5010912"/>
            <a:ext cx="640080" cy="347472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355080" y="5724398"/>
            <a:ext cx="3950208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01384" y="5852414"/>
            <a:ext cx="365760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DRAM Domain</a:t>
            </a:r>
            <a:endParaRPr lang="en-US" sz="1250" dirty="0">
              <a:solidFill>
                <a:srgbClr val="0B1F33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6501384" y="6071870"/>
            <a:ext cx="365760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处理通道排队；产生访存响应</a:t>
            </a:r>
            <a:endParaRPr lang="en-US" sz="860" dirty="0">
              <a:solidFill>
                <a:srgbClr val="475569"/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715000" y="5010912"/>
            <a:ext cx="640080" cy="1261872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442448" y="4800600"/>
            <a:ext cx="1389888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88752" y="4928616"/>
            <a:ext cx="1097280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Core 内部</a:t>
            </a:r>
            <a:endParaRPr lang="en-US" sz="1200" dirty="0">
              <a:solidFill>
                <a:srgbClr val="0B1F33"/>
              </a:solidFill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588752" y="5276088"/>
            <a:ext cx="1097280" cy="4846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接口 / Tile / 队列 / 片上状态 / 执行单元 / 统计</a:t>
            </a:r>
            <a:endParaRPr lang="en-US" sz="840" dirty="0">
              <a:solidFill>
                <a:srgbClr val="0B1F33"/>
              </a:solidFill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0305288" y="4443984"/>
            <a:ext cx="137160" cy="630936"/>
          </a:xfrm>
          <a:prstGeom prst="line">
            <a:avLst/>
          </a:prstGeom>
          <a:noFill/>
          <a:ln w="15875">
            <a:solidFill>
              <a:srgbClr val="BFD5E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71043" y="6493002"/>
            <a:ext cx="11292840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4360" y="6611493"/>
            <a:ext cx="292608" cy="45720"/>
          </a:xfrm>
          <a:prstGeom prst="rect">
            <a:avLst/>
          </a:prstGeom>
          <a:solidFill>
            <a:srgbClr val="EEF7FA"/>
          </a:solidFill>
          <a:ln w="15875">
            <a:solidFill>
              <a:srgbClr val="BF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01395" y="6566154"/>
            <a:ext cx="103327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代码实现要点：顶层用 mask 推进 Core / ICNT / DRAM 多时钟域；核心内再推进 Tile 生命周期、指令队列和三类执行单元。</a:t>
            </a:r>
            <a:endParaRPr lang="en-US" sz="1250" dirty="0">
              <a:solidFill>
                <a:srgbClr val="475569"/>
              </a:solidFill>
            </a:endParaRPr>
          </a:p>
        </p:txBody>
      </p:sp>
      <p:cxnSp>
        <p:nvCxnSpPr>
          <p:cNvPr id="75" name="直接箭头连接符 74"/>
          <p:cNvCxnSpPr>
            <a:stCxn id="64" idx="0"/>
            <a:endCxn id="53" idx="1"/>
          </p:cNvCxnSpPr>
          <p:nvPr/>
        </p:nvCxnSpPr>
        <p:spPr>
          <a:xfrm flipV="1">
            <a:off x="5715000" y="4206240"/>
            <a:ext cx="640080" cy="804545"/>
          </a:xfrm>
          <a:prstGeom prst="straightConnector1">
            <a:avLst/>
          </a:prstGeom>
          <a:ln>
            <a:solidFill>
              <a:srgbClr val="BFD5E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-42545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" y="1208405"/>
            <a:ext cx="6920230" cy="4477385"/>
          </a:xfrm>
          <a:prstGeom prst="rect">
            <a:avLst/>
          </a:prstGeom>
        </p:spPr>
      </p:pic>
      <p:pic>
        <p:nvPicPr>
          <p:cNvPr id="5" name="图片 4" descr="仿真流程图.draw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" y="1245235"/>
            <a:ext cx="6791325" cy="4440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80035"/>
            <a:ext cx="727873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仿真器流水线实现：从指令生成到周期推进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4642" y="759142"/>
            <a:ext cx="78487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基于 Asim 源码分析 — Model::initialize_instructions() 到 Simulator::cycle() 的完整数据流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11049000" cy="9525"/>
          </a:xfrm>
          <a:prstGeom prst="rect">
            <a:avLst/>
          </a:prstGeom>
          <a:solidFill>
            <a:srgbClr val="D0D0D0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381000" y="1238250"/>
            <a:ext cx="3714750" cy="2667000"/>
            <a:chOff x="381000" y="1238250"/>
            <a:chExt cx="3714750" cy="2667000"/>
          </a:xfrm>
        </p:grpSpPr>
        <p:sp>
          <p:nvSpPr>
            <p:cNvPr id="7" name="Rectangle 7"/>
            <p:cNvSpPr/>
            <p:nvPr/>
          </p:nvSpPr>
          <p:spPr>
            <a:xfrm>
              <a:off x="381000" y="1238250"/>
              <a:ext cx="3714750" cy="2667000"/>
            </a:xfrm>
            <a:prstGeom prst="roundRect">
              <a:avLst>
                <a:gd name="adj" fmla="val 2143"/>
              </a:avLst>
            </a:prstGeom>
            <a:solidFill>
              <a:srgbClr val="F0F4F8"/>
            </a:solidFill>
            <a:ln w="9525">
              <a:solidFill>
                <a:srgbClr val="D0D0D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238250"/>
              <a:ext cx="3714750" cy="361950"/>
            </a:xfrm>
            <a:prstGeom prst="roundRect">
              <a:avLst>
                <a:gd name="adj" fmla="val 15789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1466850"/>
              <a:ext cx="3714750" cy="13335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5474" y="1330642"/>
              <a:ext cx="2465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 1：指令生成（编译时）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1744028"/>
              <a:ext cx="29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Operation::initialize_instructions(tile)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238375" y="204787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4288">
              <a:solidFill>
                <a:srgbClr val="4BACC6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190750" y="2152650"/>
              <a:ext cx="95250" cy="57150"/>
            </a:xfrm>
            <a:custGeom>
              <a:avLst/>
              <a:gdLst/>
              <a:ahLst/>
              <a:cxnLst/>
              <a:rect l="l" t="t" r="r" b="b"/>
              <a:pathLst>
                <a:path w="95250" h="57150">
                  <a:moveTo>
                    <a:pt x="0" y="0"/>
                  </a:moveTo>
                  <a:lnTo>
                    <a:pt x="47625" y="571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" y="2238375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7238" y="2292191"/>
              <a:ext cx="349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MOVIN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8738" y="2292191"/>
              <a:ext cx="11184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DRAM→SPAD 数据加载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2476500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7238" y="2530316"/>
              <a:ext cx="7253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PIPE_BARRIER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7362" y="2530316"/>
              <a:ext cx="1029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MTE→Cube 同步屏障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2714625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7238" y="2768441"/>
              <a:ext cx="129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GEMM_PRELOAD / GEMM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5988" y="2768441"/>
              <a:ext cx="6290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Cube 矩阵乘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6750" y="2952750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7238" y="3006566"/>
              <a:ext cx="19281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ADD / MUL / DIV / SQRT / EXP / 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19362" y="3006566"/>
              <a:ext cx="783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Vector/Scalar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" y="3190875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7238" y="3244691"/>
              <a:ext cx="7253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PIPE_BARRIER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57362" y="3244691"/>
              <a:ext cx="11480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Vector→MTE 同步屏障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6750" y="3429000"/>
              <a:ext cx="3238500" cy="190500"/>
            </a:xfrm>
            <a:prstGeom prst="roundRect">
              <a:avLst>
                <a:gd name="adj" fmla="val 15000"/>
              </a:avLst>
            </a:prstGeom>
            <a:solidFill>
              <a:srgbClr val="4F81BD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7238" y="3482816"/>
              <a:ext cx="467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MOVOUT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8738" y="3482816"/>
              <a:ext cx="883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SPAD→DRAM 写回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738" y="3712845"/>
              <a:ext cx="28538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Segoe UI"/>
                  <a:ea typeface="Microsoft YaHei"/>
                  <a:cs typeface="Segoe UI"/>
                </a:rPr>
                <a:t>* 每条指令同步调用 FormulaLogger::emit_step()</a:t>
              </a:r>
            </a:p>
          </p:txBody>
        </p:sp>
      </p:grpSp>
      <p:sp>
        <p:nvSpPr>
          <p:cNvPr id="34" name="Polygon 34"/>
          <p:cNvSpPr/>
          <p:nvPr/>
        </p:nvSpPr>
        <p:spPr>
          <a:xfrm>
            <a:off x="4238625" y="2476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0"/>
                </a:moveTo>
                <a:lnTo>
                  <a:pt x="142875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4BACC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262438" y="2339816"/>
            <a:ext cx="42626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BACC6"/>
                </a:solidFill>
                <a:latin typeface="Segoe UI"/>
                <a:ea typeface="Microsoft YaHei"/>
                <a:cs typeface="Segoe UI"/>
              </a:rPr>
              <a:t>Tile入队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4476750" y="1238250"/>
            <a:ext cx="7334250" cy="2667000"/>
            <a:chOff x="4476750" y="1238250"/>
            <a:chExt cx="7334250" cy="2667000"/>
          </a:xfrm>
        </p:grpSpPr>
        <p:sp>
          <p:nvSpPr>
            <p:cNvPr id="36" name="Rectangle 36"/>
            <p:cNvSpPr/>
            <p:nvPr/>
          </p:nvSpPr>
          <p:spPr>
            <a:xfrm>
              <a:off x="4476750" y="1238250"/>
              <a:ext cx="7334250" cy="2667000"/>
            </a:xfrm>
            <a:prstGeom prst="roundRect">
              <a:avLst>
                <a:gd name="adj" fmla="val 2143"/>
              </a:avLst>
            </a:prstGeom>
            <a:solidFill>
              <a:srgbClr val="F0F4F8"/>
            </a:solidFill>
            <a:ln w="9525">
              <a:solidFill>
                <a:srgbClr val="D0D0D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476750" y="1238250"/>
              <a:ext cx="7334250" cy="361950"/>
            </a:xfrm>
            <a:prstGeom prst="roundRect">
              <a:avLst>
                <a:gd name="adj" fmla="val 15789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76750" y="1466850"/>
              <a:ext cx="7334250" cy="13335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96616" y="1330642"/>
              <a:ext cx="5694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 2：周期级仿真推进（运行时） — Simulator::cycle() 主循环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67250" y="1714500"/>
              <a:ext cx="2667000" cy="342900"/>
            </a:xfrm>
            <a:prstGeom prst="roundRect">
              <a:avLst>
                <a:gd name="adj" fmla="val 11111"/>
              </a:avLst>
            </a:prstGeom>
            <a:solidFill>
              <a:srgbClr val="1F497D">
                <a:alpha val="8000"/>
              </a:srgbClr>
            </a:solidFill>
            <a:ln w="9525">
              <a:solidFill>
                <a:srgbClr val="1F497D">
                  <a:alpha val="30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73332" y="1812131"/>
              <a:ext cx="2054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497D"/>
                  </a:solidFill>
                  <a:latin typeface="Consolas"/>
                  <a:ea typeface="Microsoft YaHei"/>
                  <a:cs typeface="Consolas"/>
                </a:rPr>
                <a:t>while (running()) 全局循环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67250" y="2143125"/>
              <a:ext cx="2667000" cy="342900"/>
            </a:xfrm>
            <a:prstGeom prst="roundRect">
              <a:avLst>
                <a:gd name="adj" fmla="val 11111"/>
              </a:avLst>
            </a:prstGeom>
            <a:solidFill>
              <a:srgbClr val="4BACC6">
                <a:alpha val="8000"/>
              </a:srgbClr>
            </a:solidFill>
            <a:ln w="9525">
              <a:solidFill>
                <a:srgbClr val="4BACC6">
                  <a:alpha val="30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957430" y="2240756"/>
              <a:ext cx="2086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497D"/>
                  </a:solidFill>
                  <a:latin typeface="Consolas"/>
                  <a:ea typeface="Microsoft YaHei"/>
                  <a:cs typeface="Consolas"/>
                </a:rPr>
                <a:t>set_cycle_mask() 三域选择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667250" y="2571750"/>
              <a:ext cx="1714500" cy="12382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4F81BD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67250" y="2571750"/>
              <a:ext cx="1714500" cy="266700"/>
            </a:xfrm>
            <a:prstGeom prst="roundRect">
              <a:avLst>
                <a:gd name="adj" fmla="val 14286"/>
              </a:avLst>
            </a:prstGeom>
            <a:solidFill>
              <a:srgbClr val="4F81BD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667250" y="2705100"/>
              <a:ext cx="1714500" cy="13335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130018" y="2656999"/>
              <a:ext cx="788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CORE_MASK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57738" y="2911316"/>
              <a:ext cx="831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handle_model()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738" y="3082766"/>
              <a:ext cx="11849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Scheduler.issue(tile)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57738" y="3254216"/>
              <a:ext cx="14287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Core::cycle() → LD/EX/ST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57738" y="3425666"/>
              <a:ext cx="11880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→ Cube/Vector/Scalar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57738" y="3652838"/>
              <a:ext cx="7061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core_cycles++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24625" y="2571750"/>
              <a:ext cx="1333500" cy="12382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4BACC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24625" y="2571750"/>
              <a:ext cx="1333500" cy="266700"/>
            </a:xfrm>
            <a:prstGeom prst="roundRect">
              <a:avLst>
                <a:gd name="adj" fmla="val 14286"/>
              </a:avLst>
            </a:prstGeom>
            <a:solidFill>
              <a:srgbClr val="4BACC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24625" y="2705100"/>
              <a:ext cx="1333500" cy="133350"/>
            </a:xfrm>
            <a:prstGeom prst="rect">
              <a:avLst/>
            </a:prstGeom>
            <a:solidFill>
              <a:srgbClr val="4BACC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6893" y="2656999"/>
              <a:ext cx="788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DRAM_MASK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5112" y="29508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dram-&gt;cycle()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5112" y="3197066"/>
              <a:ext cx="9317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Ramulator2 HBM2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15112" y="3387566"/>
              <a:ext cx="7980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32通道排队处理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5112" y="3652838"/>
              <a:ext cx="10040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BACC6"/>
                  </a:solidFill>
                  <a:latin typeface="Consolas"/>
                  <a:ea typeface="Consolas"/>
                  <a:cs typeface="Consolas"/>
                </a:rPr>
                <a:t>dram_time += period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01000" y="2571750"/>
              <a:ext cx="1714500" cy="12382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8064A2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01000" y="2571750"/>
              <a:ext cx="1714500" cy="266700"/>
            </a:xfrm>
            <a:prstGeom prst="roundRect">
              <a:avLst>
                <a:gd name="adj" fmla="val 14286"/>
              </a:avLst>
            </a:prstGeom>
            <a:solidFill>
              <a:srgbClr val="8064A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01000" y="2705100"/>
              <a:ext cx="1714500" cy="133350"/>
            </a:xfrm>
            <a:prstGeom prst="rect">
              <a:avLst/>
            </a:prstGeom>
            <a:solidFill>
              <a:srgbClr val="8064A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496532" y="2656999"/>
              <a:ext cx="7234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ICNT_MASK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91488" y="2911316"/>
              <a:ext cx="12888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Core→ICNT push request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91488" y="3082766"/>
              <a:ext cx="12888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ICNT→Core pop response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91488" y="3254216"/>
              <a:ext cx="10678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ICNT→DRAM forward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91488" y="3425666"/>
              <a:ext cx="9840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DRAM→ICNT return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91488" y="3652838"/>
              <a:ext cx="62541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8064A2"/>
                  </a:solidFill>
                  <a:latin typeface="Consolas"/>
                  <a:ea typeface="Consolas"/>
                  <a:cs typeface="Consolas"/>
                </a:rPr>
                <a:t>icnt_cycle++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1000" y="4048125"/>
            <a:ext cx="11430000" cy="381000"/>
            <a:chOff x="381000" y="4048125"/>
            <a:chExt cx="11430000" cy="381000"/>
          </a:xfrm>
        </p:grpSpPr>
        <p:sp>
          <p:nvSpPr>
            <p:cNvPr id="71" name="Rectangle 71"/>
            <p:cNvSpPr/>
            <p:nvPr/>
          </p:nvSpPr>
          <p:spPr>
            <a:xfrm>
              <a:off x="381000" y="4048125"/>
              <a:ext cx="11430000" cy="381000"/>
            </a:xfrm>
            <a:prstGeom prst="roundRect">
              <a:avLst>
                <a:gd name="adj" fmla="val 10000"/>
              </a:avLst>
            </a:prstGeom>
            <a:solidFill>
              <a:srgbClr val="4F81BD">
                <a:alpha val="6000"/>
              </a:srgbClr>
            </a:solidFill>
            <a:ln w="7620">
              <a:solidFill>
                <a:srgbClr val="D0D0D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62188" y="4174331"/>
              <a:ext cx="926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running()==false → finish at cycle N → print_stats() → TraceLogger::dump_to_csv() → FormulaLogger::dump_to_json()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381000" y="4619625"/>
            <a:ext cx="3524250" cy="2095500"/>
            <a:chOff x="381000" y="4619625"/>
            <a:chExt cx="3524250" cy="2095500"/>
          </a:xfrm>
        </p:grpSpPr>
        <p:sp>
          <p:nvSpPr>
            <p:cNvPr id="74" name="Rectangle 74"/>
            <p:cNvSpPr/>
            <p:nvPr/>
          </p:nvSpPr>
          <p:spPr>
            <a:xfrm>
              <a:off x="381000" y="4619625"/>
              <a:ext cx="3524250" cy="2095500"/>
            </a:xfrm>
            <a:prstGeom prst="roundRect">
              <a:avLst>
                <a:gd name="adj" fmla="val 1818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381000" y="4619625"/>
              <a:ext cx="3524250" cy="304800"/>
            </a:xfrm>
            <a:prstGeom prst="roundRect">
              <a:avLst>
                <a:gd name="adj" fmla="val 125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81000" y="4791075"/>
              <a:ext cx="3524250" cy="13335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290742" y="4698206"/>
              <a:ext cx="1704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497D"/>
                  </a:solidFill>
                  <a:latin typeface="Arial"/>
                  <a:ea typeface="Microsoft YaHei"/>
                  <a:cs typeface="Arial"/>
                </a:rPr>
                <a:t>Core 内部指令调度流程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18922" y="4990624"/>
              <a:ext cx="1683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1. handle_ld_inst_queue()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1988" y="5170170"/>
              <a:ext cx="2241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MOVIN → SPAD prefetch → DRAM 读请求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18922" y="5371624"/>
              <a:ext cx="20908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2. EX Queue 发射（opcode 分发）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1988" y="5551170"/>
              <a:ext cx="2449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检查 src_addrs 依赖（SPAD/ACCUM 命中）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1988" y="5722620"/>
              <a:ext cx="3003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GEMM/GEMM_PRELOAD → 脉动阵列 start_cycle 偏移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1988" y="5894070"/>
              <a:ext cx="2471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Vector/Scalar → start_cycle = core_cycle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18922" y="6095524"/>
              <a:ext cx="1716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3. handle_st_inst_queue()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1988" y="6275070"/>
              <a:ext cx="23650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MOVOUT → SPAD 命中确认 → DRAM 写请求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18922" y="6476524"/>
              <a:ext cx="2328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4. 完成流水线退休 → SPAD/ACCUM fill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4048125" y="4619625"/>
            <a:ext cx="3729371" cy="2101691"/>
            <a:chOff x="4048125" y="4619625"/>
            <a:chExt cx="3729371" cy="2101691"/>
          </a:xfrm>
        </p:grpSpPr>
        <p:sp>
          <p:nvSpPr>
            <p:cNvPr id="88" name="Rectangle 88"/>
            <p:cNvSpPr/>
            <p:nvPr/>
          </p:nvSpPr>
          <p:spPr>
            <a:xfrm>
              <a:off x="4048125" y="4619625"/>
              <a:ext cx="3714750" cy="2095500"/>
            </a:xfrm>
            <a:prstGeom prst="roundRect">
              <a:avLst>
                <a:gd name="adj" fmla="val 1818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048125" y="4619625"/>
              <a:ext cx="3714750" cy="304800"/>
            </a:xfrm>
            <a:prstGeom prst="roundRect">
              <a:avLst>
                <a:gd name="adj" fmla="val 125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4048125" y="4791075"/>
              <a:ext cx="3714750" cy="13335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025176" y="4698206"/>
              <a:ext cx="176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497D"/>
                  </a:solidFill>
                  <a:latin typeface="Arial"/>
                  <a:ea typeface="Microsoft YaHei"/>
                  <a:cs typeface="Arial"/>
                </a:rPr>
                <a:t>三条流水线周期延迟模型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186047" y="5038249"/>
              <a:ext cx="1581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4F81BD"/>
                  </a:solidFill>
                  <a:latin typeface="Segoe UI"/>
                  <a:ea typeface="Microsoft YaHei"/>
                  <a:cs typeface="Segoe UI"/>
                </a:rPr>
                <a:t>Cube Pipeline — 脉动阵列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186238" y="5244941"/>
              <a:ext cx="3591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b_m = ceil(tile_m/16), b_n = ceil(tile_n/16), b_k = ceil(tile_k/16)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186238" y="5435441"/>
              <a:ext cx="25195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cycles = 1 + (16+16-2) + max(b_m*b_n*b_k, 1)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86047" y="5704999"/>
              <a:ext cx="2264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BACC6"/>
                  </a:solidFill>
                  <a:latin typeface="Segoe UI"/>
                  <a:ea typeface="Segoe UI"/>
                  <a:cs typeface="Segoe UI"/>
                </a:rPr>
                <a:t>Vector Pipeline — SIMD (2048-bit)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186238" y="5911691"/>
              <a:ext cx="22021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vec_iter = ceil(compute_size*2B / 256B)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186238" y="6102191"/>
              <a:ext cx="34340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cycles = vec_iter × op_latency (ADD=1, DIV=4, SQRT=4, EXP=2)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186047" y="6371749"/>
              <a:ext cx="18368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064A2"/>
                  </a:solidFill>
                  <a:latin typeface="Segoe UI"/>
                  <a:ea typeface="Microsoft YaHei"/>
                  <a:cs typeface="Segoe UI"/>
                </a:rPr>
                <a:t>Scalar Pipeline — 严格单发射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186238" y="6559391"/>
              <a:ext cx="24195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compute_size=1 | cycles = 1~4 (固定) | 无并行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905750" y="4619625"/>
            <a:ext cx="3905250" cy="2095500"/>
            <a:chOff x="7905750" y="4619625"/>
            <a:chExt cx="3905250" cy="2095500"/>
          </a:xfrm>
        </p:grpSpPr>
        <p:sp>
          <p:nvSpPr>
            <p:cNvPr id="101" name="Rectangle 101"/>
            <p:cNvSpPr/>
            <p:nvPr/>
          </p:nvSpPr>
          <p:spPr>
            <a:xfrm>
              <a:off x="7905750" y="4619625"/>
              <a:ext cx="3905250" cy="2095500"/>
            </a:xfrm>
            <a:prstGeom prst="roundRect">
              <a:avLst>
                <a:gd name="adj" fmla="val 1818"/>
              </a:avLst>
            </a:prstGeom>
            <a:solidFill>
              <a:srgbClr val="FFFFFF"/>
            </a:solidFill>
            <a:ln w="9525">
              <a:solidFill>
                <a:srgbClr val="D0D0D0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905750" y="4619625"/>
              <a:ext cx="3905250" cy="304800"/>
            </a:xfrm>
            <a:prstGeom prst="roundRect">
              <a:avLst>
                <a:gd name="adj" fmla="val 12500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905750" y="4791075"/>
              <a:ext cx="3905250" cy="13335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37071" y="4698206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497D"/>
                  </a:solidFill>
                  <a:latin typeface="Arial"/>
                  <a:ea typeface="Microsoft YaHei"/>
                  <a:cs typeface="Arial"/>
                </a:rPr>
                <a:t>数据搬运与访存模型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43672" y="5038249"/>
              <a:ext cx="1793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MOVIN / MOVOUT 分包机制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43862" y="5236845"/>
              <a:ext cx="18383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N_req = ceil(data_bytes / 64B)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43862" y="5427345"/>
              <a:ext cx="20224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每条 MemoryAccess = 64B 固定粒度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043862" y="5617845"/>
              <a:ext cx="20513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例：8KB MOVIN → 128 条 DRAM 请求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043672" y="58954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访存路径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043862" y="6094095"/>
              <a:ext cx="19954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Core → ICNT (NoC) → DRAM (HBM2)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043862" y="6284595"/>
              <a:ext cx="22653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DRAM 通道 = hash(dram_address) % 32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043862" y="6475095"/>
              <a:ext cx="18896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总延迟 = 排队 + NoC + DRAM 时序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7784" y="203835"/>
            <a:ext cx="7987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97D"/>
                </a:solidFill>
                <a:latin typeface="Arial"/>
                <a:ea typeface="Microsoft YaHei"/>
                <a:cs typeface="Arial"/>
              </a:rPr>
              <a:t>Asim 底层物理级基础算子 (Instruction) 全集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404" y="613410"/>
            <a:ext cx="7444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Opcode 定义来自 src/Common.h，执行路径由 Core.cc + SystolicWS.cc 处理 — 共 5 大类 21 条指令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285750" y="904875"/>
            <a:ext cx="11620500" cy="5727382"/>
            <a:chOff x="285750" y="904875"/>
            <a:chExt cx="11620500" cy="5727382"/>
          </a:xfrm>
        </p:grpSpPr>
        <p:sp>
          <p:nvSpPr>
            <p:cNvPr id="6" name="Rectangle 6"/>
            <p:cNvSpPr/>
            <p:nvPr/>
          </p:nvSpPr>
          <p:spPr>
            <a:xfrm>
              <a:off x="285750" y="904875"/>
              <a:ext cx="11620500" cy="323850"/>
            </a:xfrm>
            <a:prstGeom prst="roundRect">
              <a:avLst>
                <a:gd name="adj" fmla="val 8824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70535" y="992981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指令类别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99285" y="992981"/>
              <a:ext cx="573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Opcode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3785" y="99298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分发流水线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2535" y="992981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微观作用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14285" y="992981"/>
              <a:ext cx="1466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时延模型 &amp; 关键参数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62125" y="904875"/>
              <a:ext cx="9525" cy="5286375"/>
            </a:xfrm>
            <a:custGeom>
              <a:avLst/>
              <a:gdLst/>
              <a:ahLst/>
              <a:cxnLst/>
              <a:rect l="l" t="t" r="r" b="b"/>
              <a:pathLst>
                <a:path w="9525" h="5286375">
                  <a:moveTo>
                    <a:pt x="0" y="0"/>
                  </a:moveTo>
                  <a:lnTo>
                    <a:pt x="0" y="5286375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571875" y="904875"/>
              <a:ext cx="9525" cy="5286375"/>
            </a:xfrm>
            <a:custGeom>
              <a:avLst/>
              <a:gdLst/>
              <a:ahLst/>
              <a:cxnLst/>
              <a:rect l="l" t="t" r="r" b="b"/>
              <a:pathLst>
                <a:path w="9525" h="5286375">
                  <a:moveTo>
                    <a:pt x="0" y="0"/>
                  </a:moveTo>
                  <a:lnTo>
                    <a:pt x="0" y="5286375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953000" y="904875"/>
              <a:ext cx="9525" cy="5286375"/>
            </a:xfrm>
            <a:custGeom>
              <a:avLst/>
              <a:gdLst/>
              <a:ahLst/>
              <a:cxnLst/>
              <a:rect l="l" t="t" r="r" b="b"/>
              <a:pathLst>
                <a:path w="9525" h="5286375">
                  <a:moveTo>
                    <a:pt x="0" y="0"/>
                  </a:moveTo>
                  <a:lnTo>
                    <a:pt x="0" y="5286375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524750" y="904875"/>
              <a:ext cx="9525" cy="5286375"/>
            </a:xfrm>
            <a:custGeom>
              <a:avLst/>
              <a:gdLst/>
              <a:ahLst/>
              <a:cxnLst/>
              <a:rect l="l" t="t" r="r" b="b"/>
              <a:pathLst>
                <a:path w="9525" h="5286375">
                  <a:moveTo>
                    <a:pt x="0" y="0"/>
                  </a:moveTo>
                  <a:lnTo>
                    <a:pt x="0" y="5286375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5750" y="1228725"/>
              <a:ext cx="11620500" cy="6096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5750" y="1228725"/>
              <a:ext cx="1476375" cy="609600"/>
            </a:xfrm>
            <a:prstGeom prst="rect">
              <a:avLst/>
            </a:prstGeom>
            <a:solidFill>
              <a:srgbClr val="4F81BD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1297" y="1371124"/>
              <a:ext cx="698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数据搬运流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488" y="1577816"/>
              <a:ext cx="827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Data Movement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0047" y="1371124"/>
              <a:ext cx="4321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MOVIN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0238" y="1549241"/>
              <a:ext cx="14294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MOVOUT / MOVOUT_POOL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738" y="1455420"/>
              <a:ext cx="7593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LD/ST Queue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3488" y="1379220"/>
              <a:ext cx="17185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管控 SPAD ↔ DRAM 间数据搬运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43488" y="1577816"/>
              <a:ext cx="25540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按 dram_req_size(64B) 分包发起 MemoryAccess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15238" y="1387316"/>
              <a:ext cx="16859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N_req = ceil(data_bytes / 64B)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15238" y="1577816"/>
              <a:ext cx="14294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ICNT 往返 + DRAM 排队延迟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5750" y="1838325"/>
              <a:ext cx="116205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5750" y="1838325"/>
              <a:ext cx="1476375" cy="609600"/>
            </a:xfrm>
            <a:prstGeom prst="rect">
              <a:avLst/>
            </a:prstGeom>
            <a:solidFill>
              <a:srgbClr val="4BACC6">
                <a:alpha val="8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1297" y="1980724"/>
              <a:ext cx="9183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Cube 脉动阵列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488" y="2187416"/>
              <a:ext cx="788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Systolic Array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047" y="1980724"/>
              <a:ext cx="1058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GEMM_PRELOAD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00238" y="2158841"/>
              <a:ext cx="3146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BACC6"/>
                  </a:solidFill>
                  <a:latin typeface="Consolas"/>
                  <a:ea typeface="Consolas"/>
                  <a:cs typeface="Consolas"/>
                </a:rPr>
                <a:t>GEMM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4738" y="2065020"/>
              <a:ext cx="7616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Cube Pipeline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43488" y="1988820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微块矩阵乘法，支持权重预加载与流填充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43488" y="2187416"/>
              <a:ext cx="28139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GEMM_PRELOAD: 含 pipeline 启动偏移 + 相邻指令间隔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15238" y="1966912"/>
              <a:ext cx="27355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b_m=ceil(t_m/16), b_n=ceil(t_n/16), b_k=ceil(t_k/16)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5238" y="2100262"/>
              <a:ext cx="19285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C = 1+(16+16-2)+max(b_m·b_n·b_k, 1)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15238" y="2233612"/>
              <a:ext cx="216512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多发射: compute_pipeline 深度 = core_height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5750" y="2447925"/>
              <a:ext cx="11620500" cy="762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5750" y="2447925"/>
              <a:ext cx="1476375" cy="762000"/>
            </a:xfrm>
            <a:prstGeom prst="rect">
              <a:avLst/>
            </a:prstGeom>
            <a:solidFill>
              <a:srgbClr val="4F81BD">
                <a:alpha val="6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1297" y="2590324"/>
              <a:ext cx="928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Vector 向量池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1488" y="2797016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基础运算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00047" y="2590324"/>
              <a:ext cx="1123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ADD / MUL / MAC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00238" y="2768441"/>
              <a:ext cx="5903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DIV / SQRT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900238" y="2930366"/>
              <a:ext cx="12299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EXP / ADDTREE / COMP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14738" y="2712720"/>
              <a:ext cx="895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Vector Pipeline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43488" y="259842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向量化逐元素运算：加减乘除、开方、指数、归约求和、比较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43488" y="2797016"/>
              <a:ext cx="28904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ADDTREE: N 维特征一维降维压缩求和（树形结构累计）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43488" y="2958941"/>
              <a:ext cx="27935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SQRT: 使用 scalar_sqrt_latency 建模，阻塞影响显著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15238" y="2614612"/>
              <a:ext cx="20028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vec_iter = ceil(compute_size*2B / 256B)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15238" y="2776538"/>
              <a:ext cx="133216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cycles = vec_iter × latency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15238" y="2938462"/>
              <a:ext cx="19564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ADD=1 | MUL=1 | MAC=1 | DIV=4 | SQRT=4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15238" y="3071812"/>
              <a:ext cx="26338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66666"/>
                  </a:solidFill>
                  <a:latin typeface="Consolas"/>
                  <a:ea typeface="Consolas"/>
                  <a:cs typeface="Consolas"/>
                </a:rPr>
                <a:t>EXP=2 | ADDTREE: iter×latency×tile_m | COMP: iter×1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85750" y="3209925"/>
              <a:ext cx="116205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85750" y="3209925"/>
              <a:ext cx="1476375" cy="609600"/>
            </a:xfrm>
            <a:prstGeom prst="rect">
              <a:avLst/>
            </a:prstGeom>
            <a:solidFill>
              <a:srgbClr val="4F81BD">
                <a:alpha val="6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1297" y="3352324"/>
              <a:ext cx="928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Vector 向量池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1488" y="3559016"/>
              <a:ext cx="51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复合/激活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00047" y="3352324"/>
              <a:ext cx="15753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SOFTMAX / LAYERNORM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900238" y="3530441"/>
              <a:ext cx="7194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F81BD"/>
                  </a:solidFill>
                  <a:latin typeface="Consolas"/>
                  <a:ea typeface="Consolas"/>
                  <a:cs typeface="Consolas"/>
                </a:rPr>
                <a:t>GELU / SWISH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14738" y="3417570"/>
              <a:ext cx="895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Vector Pipeline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043488" y="3360420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复合归一化算子 + 激活函数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043488" y="3559016"/>
              <a:ext cx="42676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SOFTMAX: 2×add_tree + (add+exp+mul) 组合 | LAYERNORM: add_tree+sqrt+vec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15238" y="3376612"/>
              <a:ext cx="21373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SOFTMAX: 2×add_tree_iter×latency×tile_m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15238" y="3538538"/>
              <a:ext cx="128673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+ vec_iter×(add+exp+mul)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15238" y="3700462"/>
              <a:ext cx="16211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GELU: vec_iter×gelu_latency (2)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85750" y="3819525"/>
              <a:ext cx="11620500" cy="6096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85750" y="3819525"/>
              <a:ext cx="1476375" cy="609600"/>
            </a:xfrm>
            <a:prstGeom prst="rect">
              <a:avLst/>
            </a:prstGeom>
            <a:solidFill>
              <a:srgbClr val="8064A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71297" y="3961924"/>
              <a:ext cx="893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Scalar 标量池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1488" y="4168616"/>
              <a:ext cx="5903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逐元素 ALU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900047" y="3961924"/>
              <a:ext cx="17791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SCALAR_ADD / SCALAR_SUB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00238" y="4140041"/>
              <a:ext cx="22978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8064A2"/>
                  </a:solidFill>
                  <a:latin typeface="Consolas"/>
                  <a:ea typeface="Consolas"/>
                  <a:cs typeface="Consolas"/>
                </a:rPr>
                <a:t>SCALAR_MUL / SCALAR_DIV / SCALAR_SQRT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614738" y="4027170"/>
              <a:ext cx="864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Scalar Pipeline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043488" y="3970020"/>
              <a:ext cx="21540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逐元素标量操作，compute_size 恒为 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043488" y="4168616"/>
              <a:ext cx="33102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用于对角线元素操作（Cholesky/LDL 的 per-column SQRT/DIV）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15238" y="3986212"/>
              <a:ext cx="134731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compute_size = 1（强约束）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15238" y="4148138"/>
              <a:ext cx="21911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SCALAR_ADD/SUB=1 | MUL=1 | DIV=4 | SQRT=4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15238" y="4281488"/>
              <a:ext cx="20843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0504D"/>
                  </a:solidFill>
                  <a:latin typeface="Segoe UI"/>
                  <a:ea typeface="Microsoft YaHei"/>
                  <a:cs typeface="Segoe UI"/>
                </a:rPr>
                <a:t>严格单发射: scalar_pipeline 同时仅 1 条指令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85750" y="4429125"/>
              <a:ext cx="116205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85750" y="4429125"/>
              <a:ext cx="1476375" cy="609600"/>
            </a:xfrm>
            <a:prstGeom prst="rect">
              <a:avLst/>
            </a:prstGeom>
            <a:solidFill>
              <a:srgbClr val="C0504D">
                <a:alpha val="6000"/>
              </a:srgb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71297" y="45715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97D"/>
                  </a:solidFill>
                  <a:latin typeface="Segoe UI"/>
                  <a:ea typeface="Microsoft YaHei"/>
                  <a:cs typeface="Segoe UI"/>
                </a:rPr>
                <a:t>同步屏障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71488" y="4778216"/>
              <a:ext cx="8735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Synchronization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900047" y="4571524"/>
              <a:ext cx="898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497D"/>
                  </a:solidFill>
                  <a:latin typeface="Consolas"/>
                  <a:ea typeface="Consolas"/>
                  <a:cs typeface="Consolas"/>
                </a:rPr>
                <a:t>PIPE_BARRIER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614738" y="4655820"/>
              <a:ext cx="15025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33333"/>
                  </a:solidFill>
                  <a:latin typeface="Segoe UI"/>
                  <a:ea typeface="Segoe UI"/>
                  <a:cs typeface="Segoe UI"/>
                </a:rPr>
                <a:t>Vector Pipeline (1-cycle)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043488" y="4579620"/>
              <a:ext cx="24916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显式建模 MTE/Cube/Vector 跨单元同步依赖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043488" y="4778216"/>
              <a:ext cx="46148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barrier_type 区分: MTE→Cube(1) / Cube→Vector(2) / Vector→Cube(3) / Cube→MTE(4)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15238" y="4595812"/>
              <a:ext cx="89413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C_barrier = 1 周期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15238" y="4757738"/>
              <a:ext cx="14166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T_barrier = T_wait_issue + 1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15238" y="4891088"/>
              <a:ext cx="217522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0504D"/>
                  </a:solidFill>
                  <a:latin typeface="Segoe UI"/>
                  <a:ea typeface="Microsoft YaHei"/>
                  <a:cs typeface="Segoe UI"/>
                </a:rPr>
                <a:t>等待前序 vector+scalar pipeline 清空后才发射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85750" y="5191125"/>
              <a:ext cx="11620500" cy="19050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70916" y="53635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97D"/>
                  </a:solidFill>
                  <a:latin typeface="Arial"/>
                  <a:ea typeface="Microsoft YaHei"/>
                  <a:cs typeface="Arial"/>
                </a:rPr>
                <a:t>关键设计要点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471488" y="5617845"/>
              <a:ext cx="6500651" cy="1014412"/>
              <a:chOff x="471488" y="5617845"/>
              <a:chExt cx="6500651" cy="1014412"/>
            </a:xfrm>
          </p:grpSpPr>
          <p:sp>
            <p:nvSpPr>
              <p:cNvPr id="91" name="TextBox 91"/>
              <p:cNvSpPr txBox="1"/>
              <p:nvPr/>
            </p:nvSpPr>
            <p:spPr>
              <a:xfrm>
                <a:off x="471488" y="5617845"/>
                <a:ext cx="65006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1. 指令生成阶段 (initialize_instructions) 每个 tile 独立生成完整指令序列，按 batch 并行 → Scheduler 发射到 24 核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471488" y="5827395"/>
                <a:ext cx="547192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2. Cube Pipeline 多发射（深度 core_height），Vector/Scalar 单发射 —— PIPE_BARRIER 同步三者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471488" y="6036945"/>
                <a:ext cx="49386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3. MOVIN/MOVOUT 拆分为固定 64B 粒度 MemoryAccess，经 NoC 路由到 DRAM 32 通道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471488" y="6246495"/>
                <a:ext cx="615320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4. SPAD(0x10000000) + ACCUM_SPAD(0x20000000) 各 256KB，双缓冲乒乓操作，首次使用前需 ADD 初始化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471488" y="6456045"/>
                <a:ext cx="526247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5. 总周期 = 片上依赖等待 + 流水线占用 + NoC 传输 + DRAM 排队 —— 非单条指令延迟简单相加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2235</Words>
  <Application>Microsoft Office PowerPoint</Application>
  <PresentationFormat>宽屏</PresentationFormat>
  <Paragraphs>303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微软雅黑</vt:lpstr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拿酱 拿</cp:lastModifiedBy>
  <cp:revision>2</cp:revision>
  <dcterms:created xsi:type="dcterms:W3CDTF">2026-07-08T13:12:13Z</dcterms:created>
  <dcterms:modified xsi:type="dcterms:W3CDTF">2026-07-08T13:17:53Z</dcterms:modified>
  <cp:category/>
  <cp:contentStatus/>
  <dc:language/>
</cp:coreProperties>
</file>